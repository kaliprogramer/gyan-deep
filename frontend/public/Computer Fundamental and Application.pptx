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9" r:id="rId3"/>
    <p:sldId id="274" r:id="rId4"/>
    <p:sldId id="257" r:id="rId5"/>
    <p:sldId id="258" r:id="rId6"/>
    <p:sldId id="260" r:id="rId7"/>
    <p:sldId id="261" r:id="rId8"/>
    <p:sldId id="262" r:id="rId9"/>
    <p:sldId id="263" r:id="rId10"/>
    <p:sldId id="264" r:id="rId11"/>
    <p:sldId id="265" r:id="rId12"/>
    <p:sldId id="266" r:id="rId13"/>
    <p:sldId id="267" r:id="rId14"/>
    <p:sldId id="268" r:id="rId15"/>
    <p:sldId id="269" r:id="rId16"/>
    <p:sldId id="271" r:id="rId17"/>
    <p:sldId id="275" r:id="rId18"/>
    <p:sldId id="272" r:id="rId19"/>
    <p:sldId id="276" r:id="rId20"/>
    <p:sldId id="270" r:id="rId21"/>
    <p:sldId id="277" r:id="rId22"/>
    <p:sldId id="273" r:id="rId23"/>
  </p:sldIdLst>
  <p:sldSz cx="18288000" cy="10287000"/>
  <p:notesSz cx="6858000" cy="9144000"/>
  <p:embeddedFontLst>
    <p:embeddedFont>
      <p:font typeface="Calibri" pitchFamily="34" charset="0"/>
      <p:regular r:id="rId24"/>
      <p:bold r:id="rId25"/>
      <p:italic r:id="rId26"/>
      <p:boldItalic r:id="rId27"/>
    </p:embeddedFont>
    <p:embeddedFont>
      <p:font typeface="Times New Roman Bold" pitchFamily="18" charset="0"/>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0" d="100"/>
          <a:sy n="30" d="100"/>
        </p:scale>
        <p:origin x="-48" y="-3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2.xml.rels><?xml version="1.0" encoding="UTF-8" standalone="yes"?>
<Relationships xmlns="http://schemas.openxmlformats.org/package/2006/relationships"><Relationship Id="rId8" Type="http://schemas.openxmlformats.org/officeDocument/2006/relationships/image" Target="../media/image7.svg"/><Relationship Id="rId7"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svg"/><Relationship Id="rId10" Type="http://schemas.openxmlformats.org/officeDocument/2006/relationships/image" Target="../media/image9.svg"/><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TextBox 2"/>
          <p:cNvSpPr txBox="1"/>
          <p:nvPr/>
        </p:nvSpPr>
        <p:spPr>
          <a:xfrm>
            <a:off x="1024995" y="143262"/>
            <a:ext cx="16234305" cy="4579655"/>
          </a:xfrm>
          <a:prstGeom prst="rect">
            <a:avLst/>
          </a:prstGeom>
        </p:spPr>
        <p:txBody>
          <a:bodyPr lIns="0" tIns="0" rIns="0" bIns="0" rtlCol="0" anchor="t">
            <a:spAutoFit/>
          </a:bodyPr>
          <a:lstStyle/>
          <a:p>
            <a:pPr algn="ctr">
              <a:lnSpc>
                <a:spcPts val="11641"/>
              </a:lnSpc>
            </a:pPr>
            <a:r>
              <a:rPr lang="en-US" sz="12001">
                <a:solidFill>
                  <a:srgbClr val="000000"/>
                </a:solidFill>
                <a:latin typeface="Times New Roman"/>
                <a:ea typeface="Times New Roman"/>
                <a:cs typeface="Times New Roman"/>
                <a:sym typeface="Times New Roman"/>
              </a:rPr>
              <a:t>CHAPTER - 1</a:t>
            </a:r>
          </a:p>
          <a:p>
            <a:pPr algn="ctr">
              <a:lnSpc>
                <a:spcPts val="11641"/>
              </a:lnSpc>
            </a:pPr>
            <a:r>
              <a:rPr lang="en-US" sz="12001">
                <a:solidFill>
                  <a:srgbClr val="000000"/>
                </a:solidFill>
                <a:latin typeface="Times New Roman"/>
                <a:ea typeface="Times New Roman"/>
                <a:cs typeface="Times New Roman"/>
                <a:sym typeface="Times New Roman"/>
              </a:rPr>
              <a:t>Computer Concepts</a:t>
            </a:r>
          </a:p>
          <a:p>
            <a:pPr algn="ctr">
              <a:lnSpc>
                <a:spcPts val="11641"/>
              </a:lnSpc>
            </a:pPr>
            <a:endParaRPr lang="en-US" sz="12001">
              <a:solidFill>
                <a:srgbClr val="000000"/>
              </a:solidFill>
              <a:latin typeface="Times New Roman"/>
              <a:ea typeface="Times New Roman"/>
              <a:cs typeface="Times New Roman"/>
              <a:sym typeface="Times New Roman"/>
            </a:endParaRPr>
          </a:p>
        </p:txBody>
      </p:sp>
      <p:sp>
        <p:nvSpPr>
          <p:cNvPr id="3" name="Freeform 3"/>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4" name="Freeform 4"/>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5" name="Freeform 5"/>
          <p:cNvSpPr/>
          <p:nvPr/>
        </p:nvSpPr>
        <p:spPr>
          <a:xfrm flipH="1">
            <a:off x="0" y="4676866"/>
            <a:ext cx="2288878" cy="1875608"/>
          </a:xfrm>
          <a:custGeom>
            <a:avLst/>
            <a:gdLst/>
            <a:ahLst/>
            <a:cxnLst/>
            <a:rect l="l" t="t" r="r" b="b"/>
            <a:pathLst>
              <a:path w="2288878" h="1875608">
                <a:moveTo>
                  <a:pt x="2288878" y="0"/>
                </a:moveTo>
                <a:lnTo>
                  <a:pt x="0" y="0"/>
                </a:lnTo>
                <a:lnTo>
                  <a:pt x="0" y="1875608"/>
                </a:lnTo>
                <a:lnTo>
                  <a:pt x="2288878" y="1875608"/>
                </a:lnTo>
                <a:lnTo>
                  <a:pt x="2288878"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6" name="Freeform 6"/>
          <p:cNvSpPr/>
          <p:nvPr/>
        </p:nvSpPr>
        <p:spPr>
          <a:xfrm>
            <a:off x="-1469045" y="7453190"/>
            <a:ext cx="4347645" cy="3335829"/>
          </a:xfrm>
          <a:custGeom>
            <a:avLst/>
            <a:gdLst/>
            <a:ahLst/>
            <a:cxnLst/>
            <a:rect l="l" t="t" r="r" b="b"/>
            <a:pathLst>
              <a:path w="4347645" h="3335829">
                <a:moveTo>
                  <a:pt x="0" y="0"/>
                </a:moveTo>
                <a:lnTo>
                  <a:pt x="4347644" y="0"/>
                </a:lnTo>
                <a:lnTo>
                  <a:pt x="4347644" y="3335829"/>
                </a:lnTo>
                <a:lnTo>
                  <a:pt x="0" y="3335829"/>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7" name="Freeform 7"/>
          <p:cNvSpPr/>
          <p:nvPr/>
        </p:nvSpPr>
        <p:spPr>
          <a:xfrm rot="1585320">
            <a:off x="-289889" y="6303213"/>
            <a:ext cx="2633472" cy="4114800"/>
          </a:xfrm>
          <a:custGeom>
            <a:avLst/>
            <a:gdLst/>
            <a:ahLst/>
            <a:cxnLst/>
            <a:rect l="l" t="t" r="r" b="b"/>
            <a:pathLst>
              <a:path w="2633472" h="4114800">
                <a:moveTo>
                  <a:pt x="0" y="0"/>
                </a:moveTo>
                <a:lnTo>
                  <a:pt x="2633472" y="0"/>
                </a:lnTo>
                <a:lnTo>
                  <a:pt x="2633472" y="4114800"/>
                </a:lnTo>
                <a:lnTo>
                  <a:pt x="0" y="4114800"/>
                </a:lnTo>
                <a:lnTo>
                  <a:pt x="0" y="0"/>
                </a:lnTo>
                <a:close/>
              </a:path>
            </a:pathLst>
          </a:custGeom>
          <a:blipFill>
            <a:blip r:embed="rId9">
              <a:extLst>
                <a:ext uri="{96DAC541-7B7A-43D3-8B79-37D633B846F1}">
                  <asvg:svgBlip xmlns="" xmlns:asvg="http://schemas.microsoft.com/office/drawing/2016/SVG/main" r:embed="rId10"/>
                </a:ext>
              </a:extLst>
            </a:blip>
            <a:stretch>
              <a:fillRect/>
            </a:stretch>
          </a:blipFill>
        </p:spPr>
      </p:sp>
      <p:sp>
        <p:nvSpPr>
          <p:cNvPr id="8" name="TextBox 8"/>
          <p:cNvSpPr txBox="1"/>
          <p:nvPr/>
        </p:nvSpPr>
        <p:spPr>
          <a:xfrm>
            <a:off x="5388306" y="6457224"/>
            <a:ext cx="7151639" cy="698500"/>
          </a:xfrm>
          <a:prstGeom prst="rect">
            <a:avLst/>
          </a:prstGeom>
        </p:spPr>
        <p:txBody>
          <a:bodyPr lIns="0" tIns="0" rIns="0" bIns="0" rtlCol="0" anchor="t">
            <a:spAutoFit/>
          </a:bodyPr>
          <a:lstStyle/>
          <a:p>
            <a:pPr algn="ctr">
              <a:lnSpc>
                <a:spcPts val="5599"/>
              </a:lnSpc>
            </a:pPr>
            <a:r>
              <a:rPr lang="en-US" sz="3999" spc="79">
                <a:solidFill>
                  <a:srgbClr val="000000"/>
                </a:solidFill>
                <a:latin typeface="Times New Roman"/>
                <a:ea typeface="Times New Roman"/>
                <a:cs typeface="Times New Roman"/>
                <a:sym typeface="Times New Roman"/>
              </a:rPr>
              <a:t>B.Sc. CSIT</a:t>
            </a:r>
          </a:p>
        </p:txBody>
      </p:sp>
      <p:sp>
        <p:nvSpPr>
          <p:cNvPr id="9" name="Freeform 9"/>
          <p:cNvSpPr/>
          <p:nvPr/>
        </p:nvSpPr>
        <p:spPr>
          <a:xfrm flipV="1">
            <a:off x="16493864" y="-424647"/>
            <a:ext cx="2632098" cy="2019537"/>
          </a:xfrm>
          <a:custGeom>
            <a:avLst/>
            <a:gdLst/>
            <a:ahLst/>
            <a:cxnLst/>
            <a:rect l="l" t="t" r="r" b="b"/>
            <a:pathLst>
              <a:path w="2632098" h="2019537">
                <a:moveTo>
                  <a:pt x="0" y="2019537"/>
                </a:moveTo>
                <a:lnTo>
                  <a:pt x="2632098" y="2019537"/>
                </a:lnTo>
                <a:lnTo>
                  <a:pt x="2632098" y="0"/>
                </a:lnTo>
                <a:lnTo>
                  <a:pt x="0" y="0"/>
                </a:lnTo>
                <a:lnTo>
                  <a:pt x="0" y="2019537"/>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0" name="Freeform 10"/>
          <p:cNvSpPr/>
          <p:nvPr/>
        </p:nvSpPr>
        <p:spPr>
          <a:xfrm rot="258611" flipH="1" flipV="1">
            <a:off x="16901454" y="-520760"/>
            <a:ext cx="1734470" cy="2710109"/>
          </a:xfrm>
          <a:custGeom>
            <a:avLst/>
            <a:gdLst/>
            <a:ahLst/>
            <a:cxnLst/>
            <a:rect l="l" t="t" r="r" b="b"/>
            <a:pathLst>
              <a:path w="1734470" h="2710109">
                <a:moveTo>
                  <a:pt x="1734470" y="2710109"/>
                </a:moveTo>
                <a:lnTo>
                  <a:pt x="0" y="2710109"/>
                </a:lnTo>
                <a:lnTo>
                  <a:pt x="0" y="0"/>
                </a:lnTo>
                <a:lnTo>
                  <a:pt x="1734470" y="0"/>
                </a:lnTo>
                <a:lnTo>
                  <a:pt x="1734470" y="2710109"/>
                </a:lnTo>
                <a:close/>
              </a:path>
            </a:pathLst>
          </a:custGeom>
          <a:blipFill>
            <a:blip r:embed="rId9">
              <a:extLst>
                <a:ext uri="{96DAC541-7B7A-43D3-8B79-37D633B846F1}">
                  <asvg:svgBlip xmlns="" xmlns:asvg="http://schemas.microsoft.com/office/drawing/2016/SVG/main" r:embed="rId10"/>
                </a:ext>
              </a:extLst>
            </a:blip>
            <a:stretch>
              <a:fillRect/>
            </a:stretch>
          </a:blipFill>
        </p:spPr>
      </p:sp>
      <p:sp>
        <p:nvSpPr>
          <p:cNvPr id="11" name="Freeform 11"/>
          <p:cNvSpPr/>
          <p:nvPr/>
        </p:nvSpPr>
        <p:spPr>
          <a:xfrm rot="2492048">
            <a:off x="1142353" y="7789772"/>
            <a:ext cx="2065185" cy="3226852"/>
          </a:xfrm>
          <a:custGeom>
            <a:avLst/>
            <a:gdLst/>
            <a:ahLst/>
            <a:cxnLst/>
            <a:rect l="l" t="t" r="r" b="b"/>
            <a:pathLst>
              <a:path w="2065185" h="3226852">
                <a:moveTo>
                  <a:pt x="0" y="0"/>
                </a:moveTo>
                <a:lnTo>
                  <a:pt x="2065185" y="0"/>
                </a:lnTo>
                <a:lnTo>
                  <a:pt x="2065185" y="3226852"/>
                </a:lnTo>
                <a:lnTo>
                  <a:pt x="0" y="3226852"/>
                </a:lnTo>
                <a:lnTo>
                  <a:pt x="0" y="0"/>
                </a:lnTo>
                <a:close/>
              </a:path>
            </a:pathLst>
          </a:custGeom>
          <a:blipFill>
            <a:blip r:embed="rId9">
              <a:extLst>
                <a:ext uri="{96DAC541-7B7A-43D3-8B79-37D633B846F1}">
                  <asvg:svgBlip xmlns="" xmlns:asvg="http://schemas.microsoft.com/office/drawing/2016/SVG/main" r:embed="rId10"/>
                </a:ext>
              </a:extLst>
            </a:blip>
            <a:stretch>
              <a:fillRect/>
            </a:stretch>
          </a:blipFill>
        </p:spPr>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Freeform 4"/>
          <p:cNvSpPr/>
          <p:nvPr/>
        </p:nvSpPr>
        <p:spPr>
          <a:xfrm>
            <a:off x="5502250" y="1222701"/>
            <a:ext cx="5533612" cy="4789325"/>
          </a:xfrm>
          <a:custGeom>
            <a:avLst/>
            <a:gdLst/>
            <a:ahLst/>
            <a:cxnLst/>
            <a:rect l="l" t="t" r="r" b="b"/>
            <a:pathLst>
              <a:path w="5533612" h="4789325">
                <a:moveTo>
                  <a:pt x="0" y="0"/>
                </a:moveTo>
                <a:lnTo>
                  <a:pt x="5533612" y="0"/>
                </a:lnTo>
                <a:lnTo>
                  <a:pt x="5533612" y="4789325"/>
                </a:lnTo>
                <a:lnTo>
                  <a:pt x="0" y="4789325"/>
                </a:lnTo>
                <a:lnTo>
                  <a:pt x="0" y="0"/>
                </a:lnTo>
                <a:close/>
              </a:path>
            </a:pathLst>
          </a:custGeom>
          <a:blipFill>
            <a:blip r:embed="rId5"/>
            <a:stretch>
              <a:fillRect/>
            </a:stretch>
          </a:blipFill>
        </p:spPr>
      </p:sp>
      <p:sp>
        <p:nvSpPr>
          <p:cNvPr id="5" name="TextBox 5"/>
          <p:cNvSpPr txBox="1"/>
          <p:nvPr/>
        </p:nvSpPr>
        <p:spPr>
          <a:xfrm>
            <a:off x="5809635" y="132342"/>
            <a:ext cx="5092953" cy="549910"/>
          </a:xfrm>
          <a:prstGeom prst="rect">
            <a:avLst/>
          </a:prstGeom>
        </p:spPr>
        <p:txBody>
          <a:bodyPr lIns="0" tIns="0" rIns="0" bIns="0" rtlCol="0" anchor="t">
            <a:spAutoFit/>
          </a:bodyPr>
          <a:lstStyle/>
          <a:p>
            <a:pPr algn="just">
              <a:lnSpc>
                <a:spcPts val="4339"/>
              </a:lnSpc>
            </a:pPr>
            <a:r>
              <a:rPr lang="en-US" sz="3099">
                <a:solidFill>
                  <a:srgbClr val="000000"/>
                </a:solidFill>
                <a:latin typeface="Times New Roman"/>
                <a:ea typeface="Times New Roman"/>
                <a:cs typeface="Times New Roman"/>
                <a:sym typeface="Times New Roman"/>
              </a:rPr>
              <a:t>FATHER OF COMPUTER</a:t>
            </a:r>
          </a:p>
        </p:txBody>
      </p:sp>
      <p:sp>
        <p:nvSpPr>
          <p:cNvPr id="6" name="TextBox 6"/>
          <p:cNvSpPr txBox="1"/>
          <p:nvPr/>
        </p:nvSpPr>
        <p:spPr>
          <a:xfrm>
            <a:off x="5809635" y="6777899"/>
            <a:ext cx="4524723" cy="2170179"/>
          </a:xfrm>
          <a:prstGeom prst="rect">
            <a:avLst/>
          </a:prstGeom>
        </p:spPr>
        <p:txBody>
          <a:bodyPr lIns="0" tIns="0" rIns="0" bIns="0" rtlCol="0" anchor="t">
            <a:spAutoFit/>
          </a:bodyPr>
          <a:lstStyle/>
          <a:p>
            <a:pPr algn="just">
              <a:lnSpc>
                <a:spcPts val="4283"/>
              </a:lnSpc>
            </a:pPr>
            <a:r>
              <a:rPr lang="en-US" sz="3059">
                <a:solidFill>
                  <a:srgbClr val="000000"/>
                </a:solidFill>
                <a:latin typeface="Times New Roman"/>
                <a:ea typeface="Times New Roman"/>
                <a:cs typeface="Times New Roman"/>
                <a:sym typeface="Times New Roman"/>
              </a:rPr>
              <a:t>C</a:t>
            </a:r>
            <a:r>
              <a:rPr lang="en-US" sz="3059" b="1">
                <a:solidFill>
                  <a:srgbClr val="000000"/>
                </a:solidFill>
                <a:latin typeface="Times New Roman Bold"/>
                <a:ea typeface="Times New Roman Bold"/>
                <a:cs typeface="Times New Roman Bold"/>
                <a:sym typeface="Times New Roman Bold"/>
              </a:rPr>
              <a:t>HARLES BABBAGE</a:t>
            </a:r>
          </a:p>
          <a:p>
            <a:pPr algn="just">
              <a:lnSpc>
                <a:spcPts val="4283"/>
              </a:lnSpc>
            </a:pPr>
            <a:r>
              <a:rPr lang="en-US" sz="3059" b="1">
                <a:solidFill>
                  <a:srgbClr val="000000"/>
                </a:solidFill>
                <a:latin typeface="Times New Roman Bold"/>
                <a:ea typeface="Times New Roman Bold"/>
                <a:cs typeface="Times New Roman Bold"/>
                <a:sym typeface="Times New Roman Bold"/>
              </a:rPr>
              <a:t>Born: December 26 1791</a:t>
            </a:r>
          </a:p>
          <a:p>
            <a:pPr algn="just">
              <a:lnSpc>
                <a:spcPts val="4283"/>
              </a:lnSpc>
            </a:pPr>
            <a:r>
              <a:rPr lang="en-US" sz="3059" b="1">
                <a:solidFill>
                  <a:srgbClr val="000000"/>
                </a:solidFill>
                <a:latin typeface="Times New Roman Bold"/>
                <a:ea typeface="Times New Roman Bold"/>
                <a:cs typeface="Times New Roman Bold"/>
                <a:sym typeface="Times New Roman Bold"/>
              </a:rPr>
              <a:t>Death: October 18,1871</a:t>
            </a:r>
          </a:p>
          <a:p>
            <a:pPr algn="just">
              <a:lnSpc>
                <a:spcPts val="4283"/>
              </a:lnSpc>
            </a:pPr>
            <a:endParaRPr lang="en-US" sz="3059" b="1">
              <a:solidFill>
                <a:srgbClr val="000000"/>
              </a:solidFill>
              <a:latin typeface="Times New Roman Bold"/>
              <a:ea typeface="Times New Roman Bold"/>
              <a:cs typeface="Times New Roman Bold"/>
              <a:sym typeface="Times New Roman Bold"/>
            </a:endParaRPr>
          </a:p>
        </p:txBody>
      </p:sp>
    </p:spTree>
  </p:cSld>
  <p:clrMapOvr>
    <a:masterClrMapping/>
  </p:clrMapOvr>
  <p:transition>
    <p:cover dir="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5" name="TextBox 5"/>
          <p:cNvSpPr txBox="1"/>
          <p:nvPr/>
        </p:nvSpPr>
        <p:spPr>
          <a:xfrm>
            <a:off x="1992455" y="-28575"/>
            <a:ext cx="14303090" cy="1728601"/>
          </a:xfrm>
          <a:prstGeom prst="rect">
            <a:avLst/>
          </a:prstGeom>
        </p:spPr>
        <p:txBody>
          <a:bodyPr lIns="0" tIns="0" rIns="0" bIns="0" rtlCol="0" anchor="t">
            <a:spAutoFit/>
          </a:bodyPr>
          <a:lstStyle/>
          <a:p>
            <a:pPr algn="ctr">
              <a:lnSpc>
                <a:spcPts val="13105"/>
              </a:lnSpc>
            </a:pPr>
            <a:r>
              <a:rPr lang="en-US" sz="11200">
                <a:solidFill>
                  <a:srgbClr val="000000"/>
                </a:solidFill>
                <a:latin typeface="Times New Roman"/>
                <a:ea typeface="Times New Roman"/>
                <a:cs typeface="Times New Roman"/>
                <a:sym typeface="Times New Roman"/>
              </a:rPr>
              <a:t>Introduction</a:t>
            </a:r>
          </a:p>
        </p:txBody>
      </p:sp>
      <p:sp>
        <p:nvSpPr>
          <p:cNvPr id="6" name="TextBox 6"/>
          <p:cNvSpPr txBox="1"/>
          <p:nvPr/>
        </p:nvSpPr>
        <p:spPr>
          <a:xfrm>
            <a:off x="309421" y="1614301"/>
            <a:ext cx="17701833" cy="1092835"/>
          </a:xfrm>
          <a:prstGeom prst="rect">
            <a:avLst/>
          </a:prstGeom>
        </p:spPr>
        <p:txBody>
          <a:bodyPr wrap="square" lIns="0" tIns="0" rIns="0" bIns="0" rtlCol="0" anchor="t">
            <a:spAutoFit/>
          </a:bodyPr>
          <a:lstStyle/>
          <a:p>
            <a:pPr algn="just">
              <a:lnSpc>
                <a:spcPts val="4339"/>
              </a:lnSpc>
            </a:pPr>
            <a:r>
              <a:rPr lang="en-US" sz="3099" dirty="0">
                <a:solidFill>
                  <a:srgbClr val="000000"/>
                </a:solidFill>
                <a:latin typeface="Times New Roman"/>
                <a:ea typeface="Times New Roman"/>
                <a:cs typeface="Times New Roman"/>
                <a:sym typeface="Times New Roman"/>
              </a:rPr>
              <a:t>Computer is an electronic device, which accepts and </a:t>
            </a:r>
            <a:r>
              <a:rPr lang="en-US" sz="3099" dirty="0" smtClean="0">
                <a:solidFill>
                  <a:srgbClr val="000000"/>
                </a:solidFill>
                <a:latin typeface="Times New Roman"/>
                <a:ea typeface="Times New Roman"/>
                <a:cs typeface="Times New Roman"/>
                <a:sym typeface="Times New Roman"/>
              </a:rPr>
              <a:t>stores data (</a:t>
            </a:r>
            <a:r>
              <a:rPr lang="en-US" sz="3099" dirty="0">
                <a:solidFill>
                  <a:srgbClr val="000000"/>
                </a:solidFill>
                <a:latin typeface="Times New Roman"/>
                <a:ea typeface="Times New Roman"/>
                <a:cs typeface="Times New Roman"/>
                <a:sym typeface="Times New Roman"/>
              </a:rPr>
              <a:t>raw) as input, process the data and generates </a:t>
            </a:r>
            <a:r>
              <a:rPr lang="en-US" sz="3099" dirty="0" smtClean="0">
                <a:solidFill>
                  <a:srgbClr val="000000"/>
                </a:solidFill>
                <a:latin typeface="Times New Roman"/>
                <a:ea typeface="Times New Roman"/>
                <a:cs typeface="Times New Roman"/>
                <a:sym typeface="Times New Roman"/>
              </a:rPr>
              <a:t>   the </a:t>
            </a:r>
            <a:r>
              <a:rPr lang="en-US" sz="3099" dirty="0">
                <a:solidFill>
                  <a:srgbClr val="000000"/>
                </a:solidFill>
                <a:latin typeface="Times New Roman"/>
                <a:ea typeface="Times New Roman"/>
                <a:cs typeface="Times New Roman"/>
                <a:sym typeface="Times New Roman"/>
              </a:rPr>
              <a:t>desired result as output (information).  </a:t>
            </a:r>
          </a:p>
        </p:txBody>
      </p:sp>
      <p:sp>
        <p:nvSpPr>
          <p:cNvPr id="7" name="TextBox 7"/>
          <p:cNvSpPr txBox="1"/>
          <p:nvPr/>
        </p:nvSpPr>
        <p:spPr>
          <a:xfrm>
            <a:off x="276747" y="2925445"/>
            <a:ext cx="17734507" cy="506742"/>
          </a:xfrm>
          <a:prstGeom prst="rect">
            <a:avLst/>
          </a:prstGeom>
        </p:spPr>
        <p:txBody>
          <a:bodyPr lIns="0" tIns="0" rIns="0" bIns="0" rtlCol="0" anchor="t">
            <a:spAutoFit/>
          </a:bodyPr>
          <a:lstStyle/>
          <a:p>
            <a:pPr algn="just">
              <a:lnSpc>
                <a:spcPts val="4339"/>
              </a:lnSpc>
            </a:pPr>
            <a:r>
              <a:rPr lang="en-US" sz="3099" dirty="0" smtClean="0">
                <a:solidFill>
                  <a:srgbClr val="000000"/>
                </a:solidFill>
                <a:latin typeface="Times New Roman"/>
                <a:ea typeface="Times New Roman"/>
                <a:cs typeface="Times New Roman"/>
                <a:sym typeface="Times New Roman"/>
              </a:rPr>
              <a:t>The word “computer” is derived from a Latin word “</a:t>
            </a:r>
            <a:r>
              <a:rPr lang="en-US" sz="3099" dirty="0" err="1" smtClean="0">
                <a:solidFill>
                  <a:srgbClr val="000000"/>
                </a:solidFill>
                <a:latin typeface="Times New Roman"/>
                <a:ea typeface="Times New Roman"/>
                <a:cs typeface="Times New Roman"/>
                <a:sym typeface="Times New Roman"/>
              </a:rPr>
              <a:t>computare</a:t>
            </a:r>
            <a:r>
              <a:rPr lang="en-US" sz="3099" dirty="0" smtClean="0">
                <a:solidFill>
                  <a:srgbClr val="000000"/>
                </a:solidFill>
                <a:latin typeface="Times New Roman"/>
                <a:ea typeface="Times New Roman"/>
                <a:cs typeface="Times New Roman"/>
                <a:sym typeface="Times New Roman"/>
              </a:rPr>
              <a:t>” which means to calculate.</a:t>
            </a:r>
            <a:endParaRPr lang="en-US" sz="3099" dirty="0">
              <a:solidFill>
                <a:srgbClr val="000000"/>
              </a:solidFill>
              <a:latin typeface="Times New Roman"/>
              <a:ea typeface="Times New Roman"/>
              <a:cs typeface="Times New Roman"/>
              <a:sym typeface="Times New Roman"/>
            </a:endParaRPr>
          </a:p>
        </p:txBody>
      </p:sp>
      <p:sp>
        <p:nvSpPr>
          <p:cNvPr id="10" name="TextBox 7"/>
          <p:cNvSpPr txBox="1"/>
          <p:nvPr/>
        </p:nvSpPr>
        <p:spPr>
          <a:xfrm>
            <a:off x="309421" y="4048278"/>
            <a:ext cx="17426858" cy="2757165"/>
          </a:xfrm>
          <a:prstGeom prst="rect">
            <a:avLst/>
          </a:prstGeom>
        </p:spPr>
        <p:txBody>
          <a:bodyPr wrap="square" lIns="0" tIns="0" rIns="0" bIns="0" rtlCol="0" anchor="t">
            <a:spAutoFit/>
          </a:bodyPr>
          <a:lstStyle/>
          <a:p>
            <a:pPr marL="457200" indent="-457200" algn="just">
              <a:lnSpc>
                <a:spcPts val="4339"/>
              </a:lnSpc>
              <a:buFont typeface="Arial" pitchFamily="34" charset="0"/>
              <a:buChar char="•"/>
            </a:pPr>
            <a:r>
              <a:rPr lang="en-US" sz="3099" dirty="0" smtClean="0">
                <a:solidFill>
                  <a:srgbClr val="000000"/>
                </a:solidFill>
                <a:latin typeface="Times New Roman"/>
                <a:ea typeface="Times New Roman"/>
                <a:cs typeface="Times New Roman"/>
                <a:sym typeface="Times New Roman"/>
              </a:rPr>
              <a:t>It is a multipurpose, programmable electronic data processing device that is capable of accepting input data, processing it and producing a refined data as output at a high speed.</a:t>
            </a:r>
            <a:endParaRPr lang="en-US" sz="3099" dirty="0">
              <a:solidFill>
                <a:srgbClr val="000000"/>
              </a:solidFill>
              <a:latin typeface="Times New Roman"/>
              <a:ea typeface="Times New Roman"/>
              <a:cs typeface="Times New Roman"/>
              <a:sym typeface="Times New Roman"/>
            </a:endParaRPr>
          </a:p>
          <a:p>
            <a:pPr marL="457200" indent="-457200" algn="just">
              <a:lnSpc>
                <a:spcPts val="4339"/>
              </a:lnSpc>
              <a:buFont typeface="Arial" pitchFamily="34" charset="0"/>
              <a:buChar char="•"/>
            </a:pPr>
            <a:r>
              <a:rPr lang="en-US" sz="3099" dirty="0" smtClean="0">
                <a:solidFill>
                  <a:srgbClr val="000000"/>
                </a:solidFill>
                <a:latin typeface="Times New Roman"/>
                <a:ea typeface="Times New Roman"/>
                <a:cs typeface="Times New Roman"/>
                <a:sym typeface="Times New Roman"/>
              </a:rPr>
              <a:t>A computer needs to combine hardware and software to work.</a:t>
            </a:r>
          </a:p>
          <a:p>
            <a:pPr marL="457200" indent="-457200" algn="just">
              <a:lnSpc>
                <a:spcPts val="4339"/>
              </a:lnSpc>
              <a:buFont typeface="Arial" pitchFamily="34" charset="0"/>
              <a:buChar char="•"/>
            </a:pPr>
            <a:r>
              <a:rPr lang="en-US" sz="3099" dirty="0" err="1" smtClean="0">
                <a:solidFill>
                  <a:srgbClr val="000000"/>
                </a:solidFill>
                <a:latin typeface="Times New Roman"/>
                <a:ea typeface="Times New Roman"/>
                <a:cs typeface="Times New Roman"/>
                <a:sym typeface="Times New Roman"/>
              </a:rPr>
              <a:t>Hardwares</a:t>
            </a:r>
            <a:r>
              <a:rPr lang="en-US" sz="3099" dirty="0" smtClean="0">
                <a:solidFill>
                  <a:srgbClr val="000000"/>
                </a:solidFill>
                <a:latin typeface="Times New Roman"/>
                <a:ea typeface="Times New Roman"/>
                <a:cs typeface="Times New Roman"/>
                <a:sym typeface="Times New Roman"/>
              </a:rPr>
              <a:t> are the physical components that we can see and touch e.g. Keyboard, monitor etc.</a:t>
            </a:r>
          </a:p>
          <a:p>
            <a:pPr marL="457200" indent="-457200" algn="just">
              <a:lnSpc>
                <a:spcPts val="4339"/>
              </a:lnSpc>
              <a:buFont typeface="Arial" pitchFamily="34" charset="0"/>
              <a:buChar char="•"/>
            </a:pPr>
            <a:r>
              <a:rPr lang="en-US" sz="3099" dirty="0" err="1" smtClean="0">
                <a:solidFill>
                  <a:srgbClr val="000000"/>
                </a:solidFill>
                <a:latin typeface="Times New Roman"/>
                <a:ea typeface="Times New Roman"/>
                <a:cs typeface="Times New Roman"/>
                <a:sym typeface="Times New Roman"/>
              </a:rPr>
              <a:t>Softwares</a:t>
            </a:r>
            <a:r>
              <a:rPr lang="en-US" sz="3099" dirty="0" smtClean="0">
                <a:solidFill>
                  <a:srgbClr val="000000"/>
                </a:solidFill>
                <a:latin typeface="Times New Roman"/>
                <a:ea typeface="Times New Roman"/>
                <a:cs typeface="Times New Roman"/>
                <a:sym typeface="Times New Roman"/>
              </a:rPr>
              <a:t> are the sequential instructions to the computer which are written in machine language. </a:t>
            </a:r>
            <a:endParaRPr lang="en-US" sz="3099"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80578251"/>
      </p:ext>
    </p:extLst>
  </p:cSld>
  <p:clrMapOvr>
    <a:masterClrMapping/>
  </p:clrMapOvr>
  <p:transition>
    <p:cover dir="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Freeform 4"/>
          <p:cNvSpPr/>
          <p:nvPr/>
        </p:nvSpPr>
        <p:spPr>
          <a:xfrm>
            <a:off x="6781800" y="6818705"/>
            <a:ext cx="11506201" cy="3430195"/>
          </a:xfrm>
          <a:custGeom>
            <a:avLst/>
            <a:gdLst/>
            <a:ahLst/>
            <a:cxnLst/>
            <a:rect l="l" t="t" r="r" b="b"/>
            <a:pathLst>
              <a:path w="10220827" h="3972776">
                <a:moveTo>
                  <a:pt x="0" y="0"/>
                </a:moveTo>
                <a:lnTo>
                  <a:pt x="10220827" y="0"/>
                </a:lnTo>
                <a:lnTo>
                  <a:pt x="10220827" y="3972777"/>
                </a:lnTo>
                <a:lnTo>
                  <a:pt x="0" y="3972777"/>
                </a:lnTo>
                <a:lnTo>
                  <a:pt x="0" y="0"/>
                </a:lnTo>
                <a:close/>
              </a:path>
            </a:pathLst>
          </a:custGeom>
          <a:blipFill>
            <a:blip r:embed="rId5"/>
            <a:stretch>
              <a:fillRect l="-4916" t="-380" b="-380"/>
            </a:stretch>
          </a:blipFill>
        </p:spPr>
      </p:sp>
      <p:sp>
        <p:nvSpPr>
          <p:cNvPr id="5" name="TextBox 5"/>
          <p:cNvSpPr txBox="1"/>
          <p:nvPr/>
        </p:nvSpPr>
        <p:spPr>
          <a:xfrm>
            <a:off x="1992455" y="-28575"/>
            <a:ext cx="14303090" cy="1728601"/>
          </a:xfrm>
          <a:prstGeom prst="rect">
            <a:avLst/>
          </a:prstGeom>
        </p:spPr>
        <p:txBody>
          <a:bodyPr lIns="0" tIns="0" rIns="0" bIns="0" rtlCol="0" anchor="t">
            <a:spAutoFit/>
          </a:bodyPr>
          <a:lstStyle/>
          <a:p>
            <a:pPr algn="ctr">
              <a:lnSpc>
                <a:spcPts val="13105"/>
              </a:lnSpc>
            </a:pPr>
            <a:r>
              <a:rPr lang="en-US" sz="11200" dirty="0" smtClean="0">
                <a:solidFill>
                  <a:srgbClr val="000000"/>
                </a:solidFill>
                <a:latin typeface="Times New Roman"/>
                <a:ea typeface="Times New Roman"/>
                <a:cs typeface="Times New Roman"/>
                <a:sym typeface="Times New Roman"/>
              </a:rPr>
              <a:t>Working Process</a:t>
            </a:r>
            <a:endParaRPr lang="en-US" sz="11200" dirty="0">
              <a:solidFill>
                <a:srgbClr val="000000"/>
              </a:solidFill>
              <a:latin typeface="Times New Roman"/>
              <a:ea typeface="Times New Roman"/>
              <a:cs typeface="Times New Roman"/>
              <a:sym typeface="Times New Roman"/>
            </a:endParaRPr>
          </a:p>
        </p:txBody>
      </p:sp>
      <p:sp>
        <p:nvSpPr>
          <p:cNvPr id="7" name="TextBox 7"/>
          <p:cNvSpPr txBox="1"/>
          <p:nvPr/>
        </p:nvSpPr>
        <p:spPr>
          <a:xfrm>
            <a:off x="276747" y="1700026"/>
            <a:ext cx="17734507" cy="4985980"/>
          </a:xfrm>
          <a:prstGeom prst="rect">
            <a:avLst/>
          </a:prstGeom>
        </p:spPr>
        <p:txBody>
          <a:bodyPr lIns="0" tIns="0" rIns="0" bIns="0" rtlCol="0" anchor="t">
            <a:spAutoFit/>
          </a:bodyPr>
          <a:lstStyle/>
          <a:p>
            <a:pPr marL="571500" indent="-571500" algn="just">
              <a:buFont typeface="Arial" pitchFamily="34" charset="0"/>
              <a:buChar char="•"/>
            </a:pPr>
            <a:r>
              <a:rPr lang="en-US" sz="3600" dirty="0">
                <a:solidFill>
                  <a:srgbClr val="000000"/>
                </a:solidFill>
                <a:latin typeface="Times New Roman"/>
                <a:ea typeface="Times New Roman"/>
                <a:cs typeface="Times New Roman"/>
                <a:sym typeface="Times New Roman"/>
              </a:rPr>
              <a:t>INPUT: It is used to enter data into the system using various input devices, such as keyboards and mouse. </a:t>
            </a:r>
          </a:p>
          <a:p>
            <a:pPr marL="571500" indent="-571500" algn="just">
              <a:buFont typeface="Arial" pitchFamily="34" charset="0"/>
              <a:buChar char="•"/>
            </a:pPr>
            <a:r>
              <a:rPr lang="en-US" sz="3600" dirty="0">
                <a:solidFill>
                  <a:srgbClr val="000000"/>
                </a:solidFill>
                <a:latin typeface="Times New Roman"/>
                <a:ea typeface="Times New Roman"/>
                <a:cs typeface="Times New Roman"/>
                <a:sym typeface="Times New Roman"/>
              </a:rPr>
              <a:t>STORE: A computer is used to store data for further processing, such as a hard disk, CD, etc. The storage that are available inside the system  are called online </a:t>
            </a:r>
            <a:r>
              <a:rPr lang="en-US" sz="3600" dirty="0" smtClean="0">
                <a:solidFill>
                  <a:srgbClr val="000000"/>
                </a:solidFill>
                <a:latin typeface="Times New Roman"/>
                <a:ea typeface="Times New Roman"/>
                <a:cs typeface="Times New Roman"/>
                <a:sym typeface="Times New Roman"/>
              </a:rPr>
              <a:t>storage (</a:t>
            </a:r>
            <a:r>
              <a:rPr lang="en-US" sz="3600" dirty="0">
                <a:solidFill>
                  <a:srgbClr val="000000"/>
                </a:solidFill>
                <a:latin typeface="Times New Roman"/>
                <a:ea typeface="Times New Roman"/>
                <a:cs typeface="Times New Roman"/>
                <a:sym typeface="Times New Roman"/>
              </a:rPr>
              <a:t>hard disk)  and those devices that are not always connected to the system are called offline </a:t>
            </a:r>
            <a:r>
              <a:rPr lang="en-US" sz="3600" dirty="0" smtClean="0">
                <a:solidFill>
                  <a:srgbClr val="000000"/>
                </a:solidFill>
                <a:latin typeface="Times New Roman"/>
                <a:ea typeface="Times New Roman"/>
                <a:cs typeface="Times New Roman"/>
                <a:sym typeface="Times New Roman"/>
              </a:rPr>
              <a:t>storage           (</a:t>
            </a:r>
            <a:r>
              <a:rPr lang="en-US" sz="3600" dirty="0">
                <a:solidFill>
                  <a:srgbClr val="000000"/>
                </a:solidFill>
                <a:latin typeface="Times New Roman"/>
                <a:ea typeface="Times New Roman"/>
                <a:cs typeface="Times New Roman"/>
                <a:sym typeface="Times New Roman"/>
              </a:rPr>
              <a:t>pen drive, CD). </a:t>
            </a:r>
          </a:p>
          <a:p>
            <a:pPr marL="571500" indent="-571500" algn="just">
              <a:buFont typeface="Arial" pitchFamily="34" charset="0"/>
              <a:buChar char="•"/>
            </a:pPr>
            <a:r>
              <a:rPr lang="en-US" sz="3600" dirty="0">
                <a:solidFill>
                  <a:srgbClr val="000000"/>
                </a:solidFill>
                <a:latin typeface="Times New Roman"/>
                <a:ea typeface="Times New Roman"/>
                <a:cs typeface="Times New Roman"/>
                <a:sym typeface="Times New Roman"/>
              </a:rPr>
              <a:t>PROCESS: It is used to generate information after the data has been processed</a:t>
            </a:r>
            <a:r>
              <a:rPr lang="en-US" sz="3600" dirty="0" smtClean="0">
                <a:solidFill>
                  <a:srgbClr val="000000"/>
                </a:solidFill>
                <a:latin typeface="Times New Roman"/>
                <a:ea typeface="Times New Roman"/>
                <a:cs typeface="Times New Roman"/>
                <a:sym typeface="Times New Roman"/>
              </a:rPr>
              <a:t>.</a:t>
            </a:r>
          </a:p>
          <a:p>
            <a:pPr algn="just"/>
            <a:r>
              <a:rPr lang="en-US" sz="3600" dirty="0" smtClean="0">
                <a:solidFill>
                  <a:srgbClr val="000000"/>
                </a:solidFill>
                <a:latin typeface="Times New Roman"/>
                <a:ea typeface="Times New Roman"/>
                <a:cs typeface="Times New Roman"/>
                <a:sym typeface="Times New Roman"/>
              </a:rPr>
              <a:t> </a:t>
            </a:r>
            <a:endParaRPr lang="en-US" sz="3600" dirty="0">
              <a:solidFill>
                <a:srgbClr val="000000"/>
              </a:solidFill>
              <a:latin typeface="Times New Roman"/>
              <a:ea typeface="Times New Roman"/>
              <a:cs typeface="Times New Roman"/>
              <a:sym typeface="Times New Roman"/>
            </a:endParaRPr>
          </a:p>
          <a:p>
            <a:pPr marL="571500" indent="-571500" algn="just">
              <a:buFont typeface="Arial" pitchFamily="34" charset="0"/>
              <a:buChar char="•"/>
            </a:pPr>
            <a:r>
              <a:rPr lang="en-US" sz="3600" dirty="0">
                <a:solidFill>
                  <a:srgbClr val="000000"/>
                </a:solidFill>
                <a:latin typeface="Times New Roman"/>
                <a:ea typeface="Times New Roman"/>
                <a:cs typeface="Times New Roman"/>
                <a:sym typeface="Times New Roman"/>
              </a:rPr>
              <a:t>OUTPUT: It is used to display </a:t>
            </a:r>
            <a:r>
              <a:rPr lang="en-US" sz="3600" dirty="0" smtClean="0">
                <a:solidFill>
                  <a:srgbClr val="000000"/>
                </a:solidFill>
                <a:latin typeface="Times New Roman"/>
                <a:ea typeface="Times New Roman"/>
                <a:cs typeface="Times New Roman"/>
                <a:sym typeface="Times New Roman"/>
              </a:rPr>
              <a:t>the </a:t>
            </a:r>
            <a:r>
              <a:rPr lang="en-US" sz="3600" dirty="0">
                <a:solidFill>
                  <a:srgbClr val="000000"/>
                </a:solidFill>
                <a:latin typeface="Times New Roman"/>
                <a:ea typeface="Times New Roman"/>
                <a:cs typeface="Times New Roman"/>
                <a:sym typeface="Times New Roman"/>
              </a:rPr>
              <a:t>result (information) that has been produced by </a:t>
            </a:r>
            <a:r>
              <a:rPr lang="en-US" sz="3600" dirty="0" smtClean="0">
                <a:solidFill>
                  <a:srgbClr val="000000"/>
                </a:solidFill>
                <a:latin typeface="Times New Roman"/>
                <a:ea typeface="Times New Roman"/>
                <a:cs typeface="Times New Roman"/>
                <a:sym typeface="Times New Roman"/>
              </a:rPr>
              <a:t>the </a:t>
            </a:r>
            <a:r>
              <a:rPr lang="en-US" sz="3600" dirty="0">
                <a:solidFill>
                  <a:srgbClr val="000000"/>
                </a:solidFill>
                <a:latin typeface="Times New Roman"/>
                <a:ea typeface="Times New Roman"/>
                <a:cs typeface="Times New Roman"/>
                <a:sym typeface="Times New Roman"/>
              </a:rPr>
              <a:t>system. </a:t>
            </a:r>
          </a:p>
        </p:txBody>
      </p:sp>
    </p:spTree>
  </p:cSld>
  <p:clrMapOvr>
    <a:masterClrMapping/>
  </p:clrMapOvr>
  <p:transition>
    <p:cover dir="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5" name="TextBox 5"/>
          <p:cNvSpPr txBox="1"/>
          <p:nvPr/>
        </p:nvSpPr>
        <p:spPr>
          <a:xfrm>
            <a:off x="1992455" y="-28575"/>
            <a:ext cx="14303090" cy="1728601"/>
          </a:xfrm>
          <a:prstGeom prst="rect">
            <a:avLst/>
          </a:prstGeom>
        </p:spPr>
        <p:txBody>
          <a:bodyPr lIns="0" tIns="0" rIns="0" bIns="0" rtlCol="0" anchor="t">
            <a:spAutoFit/>
          </a:bodyPr>
          <a:lstStyle/>
          <a:p>
            <a:pPr algn="ctr">
              <a:lnSpc>
                <a:spcPts val="13105"/>
              </a:lnSpc>
            </a:pPr>
            <a:r>
              <a:rPr lang="en-US" sz="11200">
                <a:solidFill>
                  <a:srgbClr val="000000"/>
                </a:solidFill>
                <a:latin typeface="Times New Roman"/>
                <a:ea typeface="Times New Roman"/>
                <a:cs typeface="Times New Roman"/>
                <a:sym typeface="Times New Roman"/>
              </a:rPr>
              <a:t>History</a:t>
            </a:r>
          </a:p>
        </p:txBody>
      </p:sp>
      <p:sp>
        <p:nvSpPr>
          <p:cNvPr id="6" name="TextBox 6"/>
          <p:cNvSpPr txBox="1"/>
          <p:nvPr/>
        </p:nvSpPr>
        <p:spPr>
          <a:xfrm>
            <a:off x="683104" y="1700026"/>
            <a:ext cx="15612441" cy="7132145"/>
          </a:xfrm>
          <a:prstGeom prst="rect">
            <a:avLst/>
          </a:prstGeom>
        </p:spPr>
        <p:txBody>
          <a:bodyPr wrap="square" lIns="0" tIns="0" rIns="0" bIns="0" rtlCol="0" anchor="t">
            <a:spAutoFit/>
          </a:bodyPr>
          <a:lstStyle/>
          <a:p>
            <a:pPr marL="457200" indent="-457200" algn="just">
              <a:lnSpc>
                <a:spcPct val="150000"/>
              </a:lnSpc>
              <a:buFont typeface="Arial" pitchFamily="34" charset="0"/>
              <a:buChar char="•"/>
            </a:pPr>
            <a:r>
              <a:rPr lang="en-US" sz="3600" dirty="0">
                <a:solidFill>
                  <a:srgbClr val="000000"/>
                </a:solidFill>
                <a:latin typeface="Times New Roman"/>
                <a:ea typeface="Times New Roman"/>
                <a:cs typeface="Times New Roman"/>
                <a:sym typeface="Times New Roman"/>
              </a:rPr>
              <a:t>Nepal  began using computer when the government brought the IBM 1401 in 1971.</a:t>
            </a:r>
          </a:p>
          <a:p>
            <a:pPr marL="457200" indent="-457200" algn="just">
              <a:lnSpc>
                <a:spcPct val="150000"/>
              </a:lnSpc>
              <a:buFont typeface="Arial" pitchFamily="34" charset="0"/>
              <a:buChar char="•"/>
            </a:pPr>
            <a:r>
              <a:rPr lang="en-US" sz="3600" dirty="0">
                <a:solidFill>
                  <a:srgbClr val="000000"/>
                </a:solidFill>
                <a:latin typeface="Times New Roman"/>
                <a:ea typeface="Times New Roman"/>
                <a:cs typeface="Times New Roman"/>
                <a:sym typeface="Times New Roman"/>
              </a:rPr>
              <a:t>It </a:t>
            </a:r>
            <a:r>
              <a:rPr lang="en-US" sz="3600" dirty="0" smtClean="0">
                <a:solidFill>
                  <a:srgbClr val="000000"/>
                </a:solidFill>
                <a:latin typeface="Times New Roman"/>
                <a:ea typeface="Times New Roman"/>
                <a:cs typeface="Times New Roman"/>
                <a:sym typeface="Times New Roman"/>
              </a:rPr>
              <a:t>led </a:t>
            </a:r>
            <a:r>
              <a:rPr lang="en-US" sz="3600" dirty="0">
                <a:solidFill>
                  <a:srgbClr val="000000"/>
                </a:solidFill>
                <a:latin typeface="Times New Roman"/>
                <a:ea typeface="Times New Roman"/>
                <a:cs typeface="Times New Roman"/>
                <a:sym typeface="Times New Roman"/>
              </a:rPr>
              <a:t>to the </a:t>
            </a:r>
            <a:r>
              <a:rPr lang="en-US" sz="3600" dirty="0" smtClean="0">
                <a:solidFill>
                  <a:srgbClr val="000000"/>
                </a:solidFill>
                <a:latin typeface="Times New Roman"/>
                <a:ea typeface="Times New Roman"/>
                <a:cs typeface="Times New Roman"/>
                <a:sym typeface="Times New Roman"/>
              </a:rPr>
              <a:t>establishment </a:t>
            </a:r>
            <a:r>
              <a:rPr lang="en-US" sz="3600" dirty="0">
                <a:solidFill>
                  <a:srgbClr val="000000"/>
                </a:solidFill>
                <a:latin typeface="Times New Roman"/>
                <a:ea typeface="Times New Roman"/>
                <a:cs typeface="Times New Roman"/>
                <a:sym typeface="Times New Roman"/>
              </a:rPr>
              <a:t>of NCC in 1975 to manage nation data and provide training</a:t>
            </a:r>
            <a:r>
              <a:rPr lang="en-US" sz="3600" dirty="0" smtClean="0">
                <a:solidFill>
                  <a:srgbClr val="000000"/>
                </a:solidFill>
                <a:latin typeface="Times New Roman"/>
                <a:ea typeface="Times New Roman"/>
                <a:cs typeface="Times New Roman"/>
                <a:sym typeface="Times New Roman"/>
              </a:rPr>
              <a:t>.</a:t>
            </a:r>
          </a:p>
          <a:p>
            <a:pPr marL="457200" indent="-457200" algn="just">
              <a:lnSpc>
                <a:spcPct val="150000"/>
              </a:lnSpc>
              <a:buFont typeface="Arial" pitchFamily="34" charset="0"/>
              <a:buChar char="•"/>
            </a:pPr>
            <a:r>
              <a:rPr lang="en-US" sz="3600" dirty="0" smtClean="0">
                <a:solidFill>
                  <a:srgbClr val="000000"/>
                </a:solidFill>
                <a:latin typeface="Times New Roman"/>
                <a:ea typeface="Times New Roman"/>
                <a:cs typeface="Times New Roman"/>
                <a:sym typeface="Times New Roman"/>
              </a:rPr>
              <a:t>The first calculating device was ABACUS developed around 3000 B.C by China.</a:t>
            </a:r>
          </a:p>
          <a:p>
            <a:pPr marL="457200" indent="-457200" algn="just">
              <a:lnSpc>
                <a:spcPct val="150000"/>
              </a:lnSpc>
              <a:buFont typeface="Arial" pitchFamily="34" charset="0"/>
              <a:buChar char="•"/>
            </a:pPr>
            <a:r>
              <a:rPr lang="en-US" sz="3600" dirty="0" smtClean="0">
                <a:solidFill>
                  <a:srgbClr val="000000"/>
                </a:solidFill>
                <a:latin typeface="Times New Roman"/>
                <a:ea typeface="Times New Roman"/>
                <a:cs typeface="Times New Roman"/>
                <a:sym typeface="Times New Roman"/>
              </a:rPr>
              <a:t>Before ABACUS, sticks, bones and stones were used for counting purpose.</a:t>
            </a:r>
          </a:p>
          <a:p>
            <a:pPr marL="457200" indent="-457200" algn="just">
              <a:lnSpc>
                <a:spcPct val="150000"/>
              </a:lnSpc>
              <a:buFont typeface="Arial" pitchFamily="34" charset="0"/>
              <a:buChar char="•"/>
            </a:pPr>
            <a:endParaRPr lang="en-US" sz="3099" dirty="0" smtClean="0">
              <a:solidFill>
                <a:srgbClr val="000000"/>
              </a:solidFill>
              <a:latin typeface="Times New Roman"/>
              <a:ea typeface="Times New Roman"/>
              <a:cs typeface="Times New Roman"/>
              <a:sym typeface="Times New Roman"/>
            </a:endParaRPr>
          </a:p>
          <a:p>
            <a:pPr algn="just">
              <a:lnSpc>
                <a:spcPct val="150000"/>
              </a:lnSpc>
            </a:pPr>
            <a:endParaRPr lang="en-US" sz="3099" dirty="0">
              <a:solidFill>
                <a:srgbClr val="000000"/>
              </a:solidFill>
              <a:latin typeface="Times New Roman"/>
              <a:ea typeface="Times New Roman"/>
              <a:cs typeface="Times New Roman"/>
              <a:sym typeface="Times New Roman"/>
            </a:endParaRPr>
          </a:p>
          <a:p>
            <a:pPr marL="457200" indent="-457200" algn="just">
              <a:lnSpc>
                <a:spcPct val="150000"/>
              </a:lnSpc>
              <a:buFont typeface="Arial" pitchFamily="34" charset="0"/>
              <a:buChar char="•"/>
            </a:pPr>
            <a:r>
              <a:rPr lang="en-US" sz="3099" dirty="0">
                <a:solidFill>
                  <a:srgbClr val="000000"/>
                </a:solidFill>
                <a:latin typeface="Times New Roman"/>
                <a:ea typeface="Times New Roman"/>
                <a:cs typeface="Times New Roman"/>
                <a:sym typeface="Times New Roman"/>
              </a:rPr>
              <a:t>https://</a:t>
            </a:r>
            <a:r>
              <a:rPr lang="en-US" sz="3099" dirty="0" err="1">
                <a:solidFill>
                  <a:srgbClr val="000000"/>
                </a:solidFill>
                <a:latin typeface="Times New Roman"/>
                <a:ea typeface="Times New Roman"/>
                <a:cs typeface="Times New Roman"/>
                <a:sym typeface="Times New Roman"/>
              </a:rPr>
              <a:t>www.youtube.com</a:t>
            </a:r>
            <a:r>
              <a:rPr lang="en-US" sz="3099" dirty="0">
                <a:solidFill>
                  <a:srgbClr val="000000"/>
                </a:solidFill>
                <a:latin typeface="Times New Roman"/>
                <a:ea typeface="Times New Roman"/>
                <a:cs typeface="Times New Roman"/>
                <a:sym typeface="Times New Roman"/>
              </a:rPr>
              <a:t>/</a:t>
            </a:r>
            <a:r>
              <a:rPr lang="en-US" sz="3099" dirty="0" err="1">
                <a:solidFill>
                  <a:srgbClr val="000000"/>
                </a:solidFill>
                <a:latin typeface="Times New Roman"/>
                <a:ea typeface="Times New Roman"/>
                <a:cs typeface="Times New Roman"/>
                <a:sym typeface="Times New Roman"/>
              </a:rPr>
              <a:t>watch?v</a:t>
            </a:r>
            <a:r>
              <a:rPr lang="en-US" sz="3099" dirty="0">
                <a:solidFill>
                  <a:srgbClr val="000000"/>
                </a:solidFill>
                <a:latin typeface="Times New Roman"/>
                <a:ea typeface="Times New Roman"/>
                <a:cs typeface="Times New Roman"/>
                <a:sym typeface="Times New Roman"/>
              </a:rPr>
              <a:t>=Ow1BLT29p9w </a:t>
            </a:r>
          </a:p>
        </p:txBody>
      </p:sp>
    </p:spTree>
  </p:cSld>
  <p:clrMapOvr>
    <a:masterClrMapping/>
  </p:clrMapOvr>
  <p:transition>
    <p:cover dir="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92455" y="-28575"/>
            <a:ext cx="14303090" cy="1728601"/>
          </a:xfrm>
          <a:prstGeom prst="rect">
            <a:avLst/>
          </a:prstGeom>
        </p:spPr>
        <p:txBody>
          <a:bodyPr lIns="0" tIns="0" rIns="0" bIns="0" rtlCol="0" anchor="t">
            <a:spAutoFit/>
          </a:bodyPr>
          <a:lstStyle/>
          <a:p>
            <a:pPr algn="ctr">
              <a:lnSpc>
                <a:spcPts val="13105"/>
              </a:lnSpc>
            </a:pPr>
            <a:r>
              <a:rPr lang="en-US" sz="11200">
                <a:solidFill>
                  <a:srgbClr val="000000"/>
                </a:solidFill>
                <a:latin typeface="Times New Roman"/>
                <a:ea typeface="Times New Roman"/>
                <a:cs typeface="Times New Roman"/>
                <a:sym typeface="Times New Roman"/>
              </a:rPr>
              <a:t>Data and Information</a:t>
            </a:r>
          </a:p>
        </p:txBody>
      </p:sp>
      <p:sp>
        <p:nvSpPr>
          <p:cNvPr id="5" name="TextBox 5"/>
          <p:cNvSpPr txBox="1"/>
          <p:nvPr/>
        </p:nvSpPr>
        <p:spPr>
          <a:xfrm>
            <a:off x="423721" y="1836625"/>
            <a:ext cx="17443675" cy="3860031"/>
          </a:xfrm>
          <a:prstGeom prst="rect">
            <a:avLst/>
          </a:prstGeom>
        </p:spPr>
        <p:txBody>
          <a:bodyPr lIns="0" tIns="0" rIns="0" bIns="0" rtlCol="0" anchor="t">
            <a:spAutoFit/>
          </a:bodyPr>
          <a:lstStyle/>
          <a:p>
            <a:pPr algn="just">
              <a:lnSpc>
                <a:spcPts val="4339"/>
              </a:lnSpc>
            </a:pPr>
            <a:r>
              <a:rPr lang="en-US" sz="3600" dirty="0">
                <a:solidFill>
                  <a:srgbClr val="000000"/>
                </a:solidFill>
                <a:latin typeface="Times New Roman"/>
                <a:ea typeface="Times New Roman"/>
                <a:cs typeface="Times New Roman"/>
                <a:sym typeface="Times New Roman"/>
              </a:rPr>
              <a:t>Data: It is a raw, unprocessed data collected from various sources. It can be quantitative and qualitative.</a:t>
            </a:r>
          </a:p>
          <a:p>
            <a:pPr algn="just">
              <a:lnSpc>
                <a:spcPts val="4339"/>
              </a:lnSpc>
            </a:pPr>
            <a:r>
              <a:rPr lang="en-US" sz="3600" dirty="0">
                <a:solidFill>
                  <a:srgbClr val="000000"/>
                </a:solidFill>
                <a:latin typeface="Times New Roman"/>
                <a:ea typeface="Times New Roman"/>
                <a:cs typeface="Times New Roman"/>
                <a:sym typeface="Times New Roman"/>
              </a:rPr>
              <a:t>Quantitative data  means numerical data  such as height of person and Qualitative  data descriptive data, such as color of a car. </a:t>
            </a:r>
          </a:p>
          <a:p>
            <a:pPr algn="just">
              <a:lnSpc>
                <a:spcPts val="4339"/>
              </a:lnSpc>
            </a:pPr>
            <a:endParaRPr lang="en-US" sz="3600" dirty="0">
              <a:solidFill>
                <a:srgbClr val="000000"/>
              </a:solidFill>
              <a:latin typeface="Times New Roman"/>
              <a:ea typeface="Times New Roman"/>
              <a:cs typeface="Times New Roman"/>
              <a:sym typeface="Times New Roman"/>
            </a:endParaRPr>
          </a:p>
          <a:p>
            <a:pPr algn="just">
              <a:lnSpc>
                <a:spcPts val="4339"/>
              </a:lnSpc>
            </a:pPr>
            <a:r>
              <a:rPr lang="en-US" sz="3600" dirty="0">
                <a:solidFill>
                  <a:srgbClr val="000000"/>
                </a:solidFill>
                <a:latin typeface="Times New Roman"/>
                <a:ea typeface="Times New Roman"/>
                <a:cs typeface="Times New Roman"/>
                <a:sym typeface="Times New Roman"/>
              </a:rPr>
              <a:t>Information: It is the processed data obtained from raw facts which is used for making decision. It can be presented in tabular, graphical or pic-hart format. </a:t>
            </a:r>
          </a:p>
        </p:txBody>
      </p:sp>
    </p:spTree>
  </p:cSld>
  <p:clrMapOvr>
    <a:masterClrMapping/>
  </p:clrMapOvr>
  <p:transition>
    <p:cover dir="rd"/>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4795168" y="8134653"/>
            <a:ext cx="8890521"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8592800" y="8066238"/>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79524" y="-286640"/>
            <a:ext cx="14303090" cy="1953389"/>
          </a:xfrm>
          <a:prstGeom prst="rect">
            <a:avLst/>
          </a:prstGeom>
        </p:spPr>
        <p:txBody>
          <a:bodyPr lIns="0" tIns="0" rIns="0" bIns="0" rtlCol="0" anchor="t">
            <a:spAutoFit/>
          </a:bodyPr>
          <a:lstStyle/>
          <a:p>
            <a:pPr algn="ctr">
              <a:lnSpc>
                <a:spcPts val="14859"/>
              </a:lnSpc>
            </a:pPr>
            <a:r>
              <a:rPr lang="en-US" sz="12700">
                <a:solidFill>
                  <a:srgbClr val="000000"/>
                </a:solidFill>
                <a:latin typeface="Times New Roman"/>
                <a:ea typeface="Times New Roman"/>
                <a:cs typeface="Times New Roman"/>
                <a:sym typeface="Times New Roman"/>
              </a:rPr>
              <a:t>Characteristics</a:t>
            </a:r>
          </a:p>
        </p:txBody>
      </p:sp>
      <p:sp>
        <p:nvSpPr>
          <p:cNvPr id="5" name="TextBox 5"/>
          <p:cNvSpPr txBox="1"/>
          <p:nvPr/>
        </p:nvSpPr>
        <p:spPr>
          <a:xfrm>
            <a:off x="423721" y="1836625"/>
            <a:ext cx="17414697" cy="7065010"/>
          </a:xfrm>
          <a:prstGeom prst="rect">
            <a:avLst/>
          </a:prstGeom>
        </p:spPr>
        <p:txBody>
          <a:bodyPr lIns="0" tIns="0" rIns="0" bIns="0" rtlCol="0" anchor="t">
            <a:spAutoFit/>
          </a:bodyPr>
          <a:lstStyle/>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Speed:  </a:t>
            </a:r>
            <a:r>
              <a:rPr lang="en-US" sz="3099" dirty="0">
                <a:solidFill>
                  <a:srgbClr val="000000"/>
                </a:solidFill>
                <a:latin typeface="Times New Roman"/>
                <a:ea typeface="Times New Roman"/>
                <a:cs typeface="Times New Roman"/>
                <a:sym typeface="Times New Roman"/>
              </a:rPr>
              <a:t>It is a very fast device. It has units of speed in microseconds, nanoseconds, and even picoseconds. I</a:t>
            </a:r>
            <a:r>
              <a:rPr lang="en-US" sz="3099" dirty="0" smtClean="0">
                <a:solidFill>
                  <a:srgbClr val="000000"/>
                </a:solidFill>
                <a:latin typeface="Times New Roman"/>
                <a:ea typeface="Times New Roman"/>
                <a:cs typeface="Times New Roman"/>
                <a:sym typeface="Times New Roman"/>
              </a:rPr>
              <a:t>t </a:t>
            </a:r>
            <a:r>
              <a:rPr lang="en-US" sz="3099" dirty="0">
                <a:solidFill>
                  <a:srgbClr val="000000"/>
                </a:solidFill>
                <a:latin typeface="Times New Roman"/>
                <a:ea typeface="Times New Roman"/>
                <a:cs typeface="Times New Roman"/>
                <a:sym typeface="Times New Roman"/>
              </a:rPr>
              <a:t>can perform millions of calculations in a few seconds as compared. The speed of a computer is measured in MIPS(Millions Instructions Per Second)</a:t>
            </a:r>
          </a:p>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Accuracy: </a:t>
            </a:r>
            <a:r>
              <a:rPr lang="en-US" sz="3099" dirty="0">
                <a:solidFill>
                  <a:srgbClr val="000000"/>
                </a:solidFill>
                <a:latin typeface="Times New Roman"/>
                <a:ea typeface="Times New Roman"/>
                <a:cs typeface="Times New Roman"/>
                <a:sym typeface="Times New Roman"/>
              </a:rPr>
              <a:t>In addition to being very fast, computers are very accurate. The calculations are 100% error-free. It gives a false result only when the wrong data is entered. This is known as GIGO(Garbage In Garbage Out).</a:t>
            </a:r>
          </a:p>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Storage: </a:t>
            </a:r>
            <a:r>
              <a:rPr lang="en-US" sz="3099" dirty="0">
                <a:solidFill>
                  <a:srgbClr val="000000"/>
                </a:solidFill>
                <a:latin typeface="Times New Roman"/>
                <a:ea typeface="Times New Roman"/>
                <a:cs typeface="Times New Roman"/>
                <a:sym typeface="Times New Roman"/>
              </a:rPr>
              <a:t>It can store a large amount of data. It can store all types of data, such as images, text, audio, video, and many others. At present, hard disks are available in hundreds of gigabytes (GB)</a:t>
            </a:r>
          </a:p>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Diligence: </a:t>
            </a:r>
            <a:r>
              <a:rPr lang="en-US" sz="3099" dirty="0">
                <a:solidFill>
                  <a:srgbClr val="000000"/>
                </a:solidFill>
                <a:latin typeface="Times New Roman"/>
                <a:ea typeface="Times New Roman"/>
                <a:cs typeface="Times New Roman"/>
                <a:sym typeface="Times New Roman"/>
              </a:rPr>
              <a:t>A computer is free from monotony, tiredness, and lack of concentration. It can work continuously without any errors or boredom. In addition, it can do repeated work with the same speed and accuracy.</a:t>
            </a:r>
          </a:p>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Versatility:</a:t>
            </a:r>
            <a:r>
              <a:rPr lang="en-US" sz="3099" dirty="0">
                <a:solidFill>
                  <a:srgbClr val="000000"/>
                </a:solidFill>
                <a:latin typeface="Times New Roman"/>
                <a:ea typeface="Times New Roman"/>
                <a:cs typeface="Times New Roman"/>
                <a:sym typeface="Times New Roman"/>
              </a:rPr>
              <a:t> It can perform almost any kind of task. A computer is very flexible in performing the jobs to be done. </a:t>
            </a:r>
          </a:p>
        </p:txBody>
      </p:sp>
    </p:spTree>
  </p:cSld>
  <p:clrMapOvr>
    <a:masterClrMapping/>
  </p:clrMapOvr>
  <p:transition>
    <p:cover dir="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79524" y="-19050"/>
            <a:ext cx="14303090" cy="1953389"/>
          </a:xfrm>
          <a:prstGeom prst="rect">
            <a:avLst/>
          </a:prstGeom>
        </p:spPr>
        <p:txBody>
          <a:bodyPr lIns="0" tIns="0" rIns="0" bIns="0" rtlCol="0" anchor="t">
            <a:spAutoFit/>
          </a:bodyPr>
          <a:lstStyle/>
          <a:p>
            <a:pPr algn="ctr">
              <a:lnSpc>
                <a:spcPts val="14859"/>
              </a:lnSpc>
            </a:pPr>
            <a:r>
              <a:rPr lang="en-US" sz="12700">
                <a:solidFill>
                  <a:srgbClr val="000000"/>
                </a:solidFill>
                <a:latin typeface="Times New Roman"/>
                <a:ea typeface="Times New Roman"/>
                <a:cs typeface="Times New Roman"/>
                <a:sym typeface="Times New Roman"/>
              </a:rPr>
              <a:t>Characteristics</a:t>
            </a:r>
          </a:p>
        </p:txBody>
      </p:sp>
      <p:sp>
        <p:nvSpPr>
          <p:cNvPr id="5" name="TextBox 5"/>
          <p:cNvSpPr txBox="1"/>
          <p:nvPr/>
        </p:nvSpPr>
        <p:spPr>
          <a:xfrm>
            <a:off x="423721" y="1836625"/>
            <a:ext cx="17414697" cy="5436235"/>
          </a:xfrm>
          <a:prstGeom prst="rect">
            <a:avLst/>
          </a:prstGeom>
        </p:spPr>
        <p:txBody>
          <a:bodyPr lIns="0" tIns="0" rIns="0" bIns="0" rtlCol="0" anchor="t">
            <a:spAutoFit/>
          </a:bodyPr>
          <a:lstStyle/>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Automatic:  </a:t>
            </a:r>
            <a:r>
              <a:rPr lang="en-US" sz="3099" dirty="0">
                <a:solidFill>
                  <a:srgbClr val="000000"/>
                </a:solidFill>
                <a:latin typeface="Times New Roman"/>
                <a:ea typeface="Times New Roman"/>
                <a:cs typeface="Times New Roman"/>
                <a:sym typeface="Times New Roman"/>
              </a:rPr>
              <a:t> It is an automatic machine. </a:t>
            </a:r>
            <a:r>
              <a:rPr lang="en-US" sz="3099" dirty="0" smtClean="0">
                <a:solidFill>
                  <a:srgbClr val="000000"/>
                </a:solidFill>
                <a:latin typeface="Times New Roman"/>
                <a:ea typeface="Times New Roman"/>
                <a:cs typeface="Times New Roman"/>
                <a:sym typeface="Times New Roman"/>
              </a:rPr>
              <a:t>It </a:t>
            </a:r>
            <a:r>
              <a:rPr lang="en-US" sz="3099" dirty="0">
                <a:solidFill>
                  <a:srgbClr val="000000"/>
                </a:solidFill>
                <a:latin typeface="Times New Roman"/>
                <a:ea typeface="Times New Roman"/>
                <a:cs typeface="Times New Roman"/>
                <a:sym typeface="Times New Roman"/>
              </a:rPr>
              <a:t>means the ability to perform the given task automatically. Once data and a program are given to a computer and stored in its memory, the program and its instructions can control execution without human interaction. </a:t>
            </a:r>
          </a:p>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No Intelligence: </a:t>
            </a:r>
            <a:r>
              <a:rPr lang="en-US" sz="3099" dirty="0">
                <a:solidFill>
                  <a:srgbClr val="000000"/>
                </a:solidFill>
                <a:latin typeface="Times New Roman"/>
                <a:ea typeface="Times New Roman"/>
                <a:cs typeface="Times New Roman"/>
                <a:sym typeface="Times New Roman"/>
              </a:rPr>
              <a:t> A computer is a machine that has no intelligence to perform any task. Each instruction has to be given to the computer. </a:t>
            </a:r>
          </a:p>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Word length: </a:t>
            </a:r>
            <a:r>
              <a:rPr lang="en-US" sz="3099" dirty="0">
                <a:solidFill>
                  <a:srgbClr val="000000"/>
                </a:solidFill>
                <a:latin typeface="Times New Roman"/>
                <a:ea typeface="Times New Roman"/>
                <a:cs typeface="Times New Roman"/>
                <a:sym typeface="Times New Roman"/>
              </a:rPr>
              <a:t>The number of bits </a:t>
            </a:r>
            <a:r>
              <a:rPr lang="en-US" sz="3099" dirty="0" smtClean="0">
                <a:solidFill>
                  <a:srgbClr val="000000"/>
                </a:solidFill>
                <a:latin typeface="Times New Roman"/>
                <a:ea typeface="Times New Roman"/>
                <a:cs typeface="Times New Roman"/>
                <a:sym typeface="Times New Roman"/>
              </a:rPr>
              <a:t>that a </a:t>
            </a:r>
            <a:r>
              <a:rPr lang="en-US" sz="3099" dirty="0">
                <a:solidFill>
                  <a:srgbClr val="000000"/>
                </a:solidFill>
                <a:latin typeface="Times New Roman"/>
                <a:ea typeface="Times New Roman"/>
                <a:cs typeface="Times New Roman"/>
                <a:sym typeface="Times New Roman"/>
              </a:rPr>
              <a:t>CPU can process at a time is the word length.</a:t>
            </a:r>
          </a:p>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Reliability:  </a:t>
            </a:r>
            <a:r>
              <a:rPr lang="en-US" sz="3099" dirty="0">
                <a:solidFill>
                  <a:srgbClr val="000000"/>
                </a:solidFill>
                <a:latin typeface="Times New Roman"/>
                <a:ea typeface="Times New Roman"/>
                <a:cs typeface="Times New Roman"/>
                <a:sym typeface="Times New Roman"/>
              </a:rPr>
              <a:t>It is a reliable machine. Modern electronic components have long lives. </a:t>
            </a:r>
            <a:r>
              <a:rPr lang="en-US" sz="3099" dirty="0" smtClean="0">
                <a:solidFill>
                  <a:srgbClr val="000000"/>
                </a:solidFill>
                <a:latin typeface="Times New Roman"/>
                <a:ea typeface="Times New Roman"/>
                <a:cs typeface="Times New Roman"/>
                <a:sym typeface="Times New Roman"/>
              </a:rPr>
              <a:t>They </a:t>
            </a:r>
            <a:r>
              <a:rPr lang="en-US" sz="3099" dirty="0">
                <a:solidFill>
                  <a:srgbClr val="000000"/>
                </a:solidFill>
                <a:latin typeface="Times New Roman"/>
                <a:ea typeface="Times New Roman"/>
                <a:cs typeface="Times New Roman"/>
                <a:sym typeface="Times New Roman"/>
              </a:rPr>
              <a:t>are designed to make maintenance easy.</a:t>
            </a:r>
          </a:p>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No Feelings:  </a:t>
            </a:r>
            <a:r>
              <a:rPr lang="en-US" sz="3099" dirty="0">
                <a:solidFill>
                  <a:srgbClr val="000000"/>
                </a:solidFill>
                <a:latin typeface="Times New Roman"/>
                <a:ea typeface="Times New Roman"/>
                <a:cs typeface="Times New Roman"/>
                <a:sym typeface="Times New Roman"/>
              </a:rPr>
              <a:t>It does not have any feelings or emotions. </a:t>
            </a:r>
            <a:r>
              <a:rPr lang="en-US" sz="3099" dirty="0" smtClean="0">
                <a:solidFill>
                  <a:srgbClr val="000000"/>
                </a:solidFill>
                <a:latin typeface="Times New Roman"/>
                <a:ea typeface="Times New Roman"/>
                <a:cs typeface="Times New Roman"/>
                <a:sym typeface="Times New Roman"/>
              </a:rPr>
              <a:t>It </a:t>
            </a:r>
            <a:r>
              <a:rPr lang="en-US" sz="3099" dirty="0">
                <a:solidFill>
                  <a:srgbClr val="000000"/>
                </a:solidFill>
                <a:latin typeface="Times New Roman"/>
                <a:ea typeface="Times New Roman"/>
                <a:cs typeface="Times New Roman"/>
                <a:sym typeface="Times New Roman"/>
              </a:rPr>
              <a:t>cannot make </a:t>
            </a:r>
            <a:r>
              <a:rPr lang="en-US" sz="3099" dirty="0" err="1">
                <a:solidFill>
                  <a:srgbClr val="000000"/>
                </a:solidFill>
                <a:latin typeface="Times New Roman"/>
                <a:ea typeface="Times New Roman"/>
                <a:cs typeface="Times New Roman"/>
                <a:sym typeface="Times New Roman"/>
              </a:rPr>
              <a:t>judgement</a:t>
            </a:r>
            <a:r>
              <a:rPr lang="en-US" sz="3099" dirty="0">
                <a:solidFill>
                  <a:srgbClr val="000000"/>
                </a:solidFill>
                <a:latin typeface="Times New Roman"/>
                <a:ea typeface="Times New Roman"/>
                <a:cs typeface="Times New Roman"/>
                <a:sym typeface="Times New Roman"/>
              </a:rPr>
              <a:t>  based on feeling, taste, experience unlike a human being.</a:t>
            </a:r>
          </a:p>
        </p:txBody>
      </p:sp>
    </p:spTree>
  </p:cSld>
  <p:clrMapOvr>
    <a:masterClrMapping/>
  </p:clrMapOvr>
  <p:transition>
    <p:cover dir="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2453725" y="-392989"/>
            <a:ext cx="14303090" cy="1953389"/>
          </a:xfrm>
          <a:prstGeom prst="rect">
            <a:avLst/>
          </a:prstGeom>
        </p:spPr>
        <p:txBody>
          <a:bodyPr lIns="0" tIns="0" rIns="0" bIns="0" rtlCol="0" anchor="t">
            <a:spAutoFit/>
          </a:bodyPr>
          <a:lstStyle/>
          <a:p>
            <a:pPr algn="ctr">
              <a:lnSpc>
                <a:spcPts val="14859"/>
              </a:lnSpc>
            </a:pPr>
            <a:r>
              <a:rPr lang="en-US" sz="12700">
                <a:solidFill>
                  <a:srgbClr val="000000"/>
                </a:solidFill>
                <a:latin typeface="Times New Roman"/>
                <a:ea typeface="Times New Roman"/>
                <a:cs typeface="Times New Roman"/>
                <a:sym typeface="Times New Roman"/>
              </a:rPr>
              <a:t>Application</a:t>
            </a:r>
          </a:p>
        </p:txBody>
      </p:sp>
      <p:sp>
        <p:nvSpPr>
          <p:cNvPr id="5" name="TextBox 5"/>
          <p:cNvSpPr txBox="1"/>
          <p:nvPr/>
        </p:nvSpPr>
        <p:spPr>
          <a:xfrm>
            <a:off x="423721" y="1836625"/>
            <a:ext cx="17414697" cy="7168629"/>
          </a:xfrm>
          <a:prstGeom prst="rect">
            <a:avLst/>
          </a:prstGeom>
        </p:spPr>
        <p:txBody>
          <a:bodyPr lIns="0" tIns="0" rIns="0" bIns="0" rtlCol="0" anchor="t">
            <a:spAutoFit/>
          </a:bodyPr>
          <a:lstStyle/>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Education: </a:t>
            </a:r>
            <a:r>
              <a:rPr lang="en-US" sz="3099" dirty="0">
                <a:solidFill>
                  <a:srgbClr val="000000"/>
                </a:solidFill>
                <a:latin typeface="Times New Roman"/>
                <a:ea typeface="Times New Roman"/>
                <a:cs typeface="Times New Roman"/>
                <a:sym typeface="Times New Roman"/>
              </a:rPr>
              <a:t>It has provided a lot of facilities in the education system. It has been proven that learning with a computer has been more successful, and this is why numerous forms of new teaching methods have been introduced. It is used as a teaching tool, information resource, and a computing and research means or tool. It is referred to as CAI (Computer-Assisted Instruction). It is also used to prepare documents, reports, and presentations</a:t>
            </a:r>
            <a:r>
              <a:rPr lang="en-US" sz="3099">
                <a:solidFill>
                  <a:srgbClr val="000000"/>
                </a:solidFill>
                <a:latin typeface="Times New Roman"/>
                <a:ea typeface="Times New Roman"/>
                <a:cs typeface="Times New Roman"/>
                <a:sym typeface="Times New Roman"/>
              </a:rPr>
              <a:t>. </a:t>
            </a:r>
            <a:endParaRPr lang="en-US" sz="3099" smtClean="0">
              <a:solidFill>
                <a:srgbClr val="000000"/>
              </a:solidFill>
              <a:latin typeface="Times New Roman"/>
              <a:ea typeface="Times New Roman"/>
              <a:cs typeface="Times New Roman"/>
              <a:sym typeface="Times New Roman"/>
            </a:endParaRPr>
          </a:p>
          <a:p>
            <a:pPr marL="334644" lvl="1" algn="just">
              <a:lnSpc>
                <a:spcPts val="4339"/>
              </a:lnSpc>
            </a:pP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b="1" dirty="0">
                <a:solidFill>
                  <a:srgbClr val="000000"/>
                </a:solidFill>
                <a:latin typeface="Times New Roman Bold"/>
                <a:ea typeface="Times New Roman Bold"/>
                <a:cs typeface="Times New Roman Bold"/>
                <a:sym typeface="Times New Roman Bold"/>
              </a:rPr>
              <a:t>Banking: </a:t>
            </a:r>
            <a:r>
              <a:rPr lang="en-US" sz="3099" dirty="0">
                <a:solidFill>
                  <a:srgbClr val="000000"/>
                </a:solidFill>
                <a:latin typeface="Times New Roman"/>
                <a:ea typeface="Times New Roman"/>
                <a:cs typeface="Times New Roman"/>
                <a:sym typeface="Times New Roman"/>
              </a:rPr>
              <a:t> It is a computer for general-purpose computation to provide online accounting facilities like current balance, deposit, overdraft, etc. ATMs are making it even easier for customers to deal with banks</a:t>
            </a:r>
            <a:r>
              <a:rPr lang="en-US" sz="3099" dirty="0" smtClean="0">
                <a:solidFill>
                  <a:srgbClr val="000000"/>
                </a:solidFill>
                <a:latin typeface="Times New Roman"/>
                <a:ea typeface="Times New Roman"/>
                <a:cs typeface="Times New Roman"/>
                <a:sym typeface="Times New Roman"/>
              </a:rPr>
              <a:t>.</a:t>
            </a:r>
          </a:p>
          <a:p>
            <a:pPr marL="334644" lvl="1" algn="just">
              <a:lnSpc>
                <a:spcPts val="4339"/>
              </a:lnSpc>
            </a:pPr>
            <a:r>
              <a:rPr lang="en-US" sz="3099" dirty="0" smtClean="0">
                <a:solidFill>
                  <a:srgbClr val="000000"/>
                </a:solidFill>
                <a:latin typeface="Times New Roman"/>
                <a:ea typeface="Times New Roman"/>
                <a:cs typeface="Times New Roman"/>
                <a:sym typeface="Times New Roman"/>
              </a:rPr>
              <a:t> </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b="1" dirty="0" smtClean="0">
                <a:solidFill>
                  <a:srgbClr val="000000"/>
                </a:solidFill>
                <a:latin typeface="Times New Roman Bold"/>
                <a:ea typeface="Times New Roman Bold"/>
                <a:cs typeface="Times New Roman Bold"/>
                <a:sym typeface="Times New Roman Bold"/>
              </a:rPr>
              <a:t>Health </a:t>
            </a:r>
            <a:r>
              <a:rPr lang="en-US" sz="3099" b="1" dirty="0">
                <a:solidFill>
                  <a:srgbClr val="000000"/>
                </a:solidFill>
                <a:latin typeface="Times New Roman Bold"/>
                <a:ea typeface="Times New Roman Bold"/>
                <a:cs typeface="Times New Roman Bold"/>
                <a:sym typeface="Times New Roman Bold"/>
              </a:rPr>
              <a:t>care: </a:t>
            </a:r>
            <a:r>
              <a:rPr lang="en-US" sz="3099" dirty="0">
                <a:solidFill>
                  <a:srgbClr val="000000"/>
                </a:solidFill>
                <a:latin typeface="Times New Roman"/>
                <a:ea typeface="Times New Roman"/>
                <a:cs typeface="Times New Roman"/>
                <a:sym typeface="Times New Roman"/>
              </a:rPr>
              <a:t> It is widely used in hospitals to help doctors in diagnosis, getting information about patients’ diseases, required treatments, keeping patient records, and online booking. It also used in administration for keeping patient records. Thy can discuss with colleagues using teleconferencing or online conferencing. </a:t>
            </a:r>
          </a:p>
        </p:txBody>
      </p:sp>
    </p:spTree>
  </p:cSld>
  <p:clrMapOvr>
    <a:masterClrMapping/>
  </p:clrMapOvr>
  <p:transition>
    <p:cover dir="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TextBox 2"/>
          <p:cNvSpPr txBox="1"/>
          <p:nvPr/>
        </p:nvSpPr>
        <p:spPr>
          <a:xfrm>
            <a:off x="2453725" y="-392989"/>
            <a:ext cx="14303090" cy="1953389"/>
          </a:xfrm>
          <a:prstGeom prst="rect">
            <a:avLst/>
          </a:prstGeom>
        </p:spPr>
        <p:txBody>
          <a:bodyPr lIns="0" tIns="0" rIns="0" bIns="0" rtlCol="0" anchor="t">
            <a:spAutoFit/>
          </a:bodyPr>
          <a:lstStyle/>
          <a:p>
            <a:pPr algn="ctr">
              <a:lnSpc>
                <a:spcPts val="14859"/>
              </a:lnSpc>
            </a:pPr>
            <a:r>
              <a:rPr lang="en-US" sz="12700">
                <a:solidFill>
                  <a:srgbClr val="000000"/>
                </a:solidFill>
                <a:latin typeface="Times New Roman"/>
                <a:ea typeface="Times New Roman"/>
                <a:cs typeface="Times New Roman"/>
                <a:sym typeface="Times New Roman"/>
              </a:rPr>
              <a:t>Application</a:t>
            </a:r>
          </a:p>
        </p:txBody>
      </p:sp>
      <p:sp>
        <p:nvSpPr>
          <p:cNvPr id="3" name="TextBox 3"/>
          <p:cNvSpPr txBox="1"/>
          <p:nvPr/>
        </p:nvSpPr>
        <p:spPr>
          <a:xfrm>
            <a:off x="423721" y="1836625"/>
            <a:ext cx="17414697" cy="8150860"/>
          </a:xfrm>
          <a:prstGeom prst="rect">
            <a:avLst/>
          </a:prstGeom>
        </p:spPr>
        <p:txBody>
          <a:bodyPr lIns="0" tIns="0" rIns="0" bIns="0" rtlCol="0" anchor="t">
            <a:spAutoFit/>
          </a:bodyPr>
          <a:lstStyle/>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Entertainment: </a:t>
            </a:r>
            <a:r>
              <a:rPr lang="en-US" sz="3099">
                <a:solidFill>
                  <a:srgbClr val="000000"/>
                </a:solidFill>
                <a:latin typeface="Times New Roman"/>
                <a:ea typeface="Times New Roman"/>
                <a:cs typeface="Times New Roman"/>
                <a:sym typeface="Times New Roman"/>
              </a:rPr>
              <a:t>It plays a major role in entertainment by helping create, edit, and deliver digital media. they provide both fun and creativity for users. </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Insurance: </a:t>
            </a:r>
            <a:r>
              <a:rPr lang="en-US" sz="3099">
                <a:solidFill>
                  <a:srgbClr val="000000"/>
                </a:solidFill>
                <a:latin typeface="Times New Roman"/>
                <a:ea typeface="Times New Roman"/>
                <a:cs typeface="Times New Roman"/>
                <a:sym typeface="Times New Roman"/>
              </a:rPr>
              <a:t>It helps in keeping all records up-to-date with the help of computers. They are maintaining a database of all the clients with information showing procedure to continue with policies, starting date of the polices, next instalment, maturity, survival benefits, bonus, etc. </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Science and Engineering: </a:t>
            </a:r>
            <a:r>
              <a:rPr lang="en-US" sz="3099">
                <a:solidFill>
                  <a:srgbClr val="000000"/>
                </a:solidFill>
                <a:latin typeface="Times New Roman"/>
                <a:ea typeface="Times New Roman"/>
                <a:cs typeface="Times New Roman"/>
                <a:sym typeface="Times New Roman"/>
              </a:rPr>
              <a:t>It involves complex and massive computations. It is widely used in engineering purposes like CAD, which is used to design bridges, towers, generators, etc. It is suitable for both complex computations as well as the processing of massive amounts of data. </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Military: </a:t>
            </a:r>
            <a:r>
              <a:rPr lang="en-US" sz="3099">
                <a:solidFill>
                  <a:srgbClr val="000000"/>
                </a:solidFill>
                <a:latin typeface="Times New Roman"/>
                <a:ea typeface="Times New Roman"/>
                <a:cs typeface="Times New Roman"/>
                <a:sym typeface="Times New Roman"/>
              </a:rPr>
              <a:t>It is also used for defense purposes. Modern tanks, missiles, and fighter planes are all computerized control systems. </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Industry:</a:t>
            </a:r>
            <a:r>
              <a:rPr lang="en-US" sz="3099">
                <a:solidFill>
                  <a:srgbClr val="000000"/>
                </a:solidFill>
                <a:latin typeface="Times New Roman"/>
                <a:ea typeface="Times New Roman"/>
                <a:cs typeface="Times New Roman"/>
                <a:sym typeface="Times New Roman"/>
              </a:rPr>
              <a:t> It is used for automatic control of machines, processing, measurement, and display of electrical and physical quantities.  Example: voltage, current  power, frequently output generator and water level.</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Business:</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Aviation</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Robotics </a:t>
            </a:r>
          </a:p>
        </p:txBody>
      </p:sp>
    </p:spTree>
  </p:cSld>
  <p:clrMapOvr>
    <a:masterClrMapping/>
  </p:clrMapOvr>
  <p:transition>
    <p:cover dir="rd"/>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4" name="TextBox 4"/>
          <p:cNvSpPr txBox="1"/>
          <p:nvPr/>
        </p:nvSpPr>
        <p:spPr>
          <a:xfrm>
            <a:off x="1992549" y="239863"/>
            <a:ext cx="14303090" cy="1728601"/>
          </a:xfrm>
          <a:prstGeom prst="rect">
            <a:avLst/>
          </a:prstGeom>
        </p:spPr>
        <p:txBody>
          <a:bodyPr lIns="0" tIns="0" rIns="0" bIns="0" rtlCol="0" anchor="t">
            <a:spAutoFit/>
          </a:bodyPr>
          <a:lstStyle/>
          <a:p>
            <a:pPr algn="ctr">
              <a:lnSpc>
                <a:spcPts val="13105"/>
              </a:lnSpc>
            </a:pPr>
            <a:r>
              <a:rPr lang="en-US" sz="11200">
                <a:solidFill>
                  <a:srgbClr val="000000"/>
                </a:solidFill>
                <a:latin typeface="Times New Roman"/>
                <a:ea typeface="Times New Roman"/>
                <a:cs typeface="Times New Roman"/>
                <a:sym typeface="Times New Roman"/>
              </a:rPr>
              <a:t>Generation of Computer</a:t>
            </a:r>
          </a:p>
        </p:txBody>
      </p:sp>
      <p:sp>
        <p:nvSpPr>
          <p:cNvPr id="5" name="TextBox 5"/>
          <p:cNvSpPr txBox="1"/>
          <p:nvPr/>
        </p:nvSpPr>
        <p:spPr>
          <a:xfrm>
            <a:off x="423721" y="1836625"/>
            <a:ext cx="17356741" cy="5514330"/>
          </a:xfrm>
          <a:prstGeom prst="rect">
            <a:avLst/>
          </a:prstGeom>
        </p:spPr>
        <p:txBody>
          <a:bodyPr lIns="0" tIns="0" rIns="0" bIns="0" rtlCol="0" anchor="t">
            <a:spAutoFit/>
          </a:bodyPr>
          <a:lstStyle/>
          <a:p>
            <a:pPr marL="334644" lvl="1" algn="just">
              <a:lnSpc>
                <a:spcPts val="4339"/>
              </a:lnSpc>
            </a:pPr>
            <a:r>
              <a:rPr lang="en-US" sz="3600" b="1" dirty="0" smtClean="0">
                <a:solidFill>
                  <a:srgbClr val="000000"/>
                </a:solidFill>
                <a:latin typeface="Times New Roman Bold"/>
                <a:ea typeface="Times New Roman Bold"/>
                <a:cs typeface="Times New Roman Bold"/>
                <a:sym typeface="Times New Roman Bold"/>
              </a:rPr>
              <a:t>Generation  in computer means change in technology  of a computer is/ was being used. </a:t>
            </a:r>
          </a:p>
          <a:p>
            <a:pPr marL="669289" lvl="1" indent="-334645" algn="just">
              <a:lnSpc>
                <a:spcPts val="4339"/>
              </a:lnSpc>
              <a:buFont typeface="Arial"/>
              <a:buChar char="•"/>
            </a:pPr>
            <a:r>
              <a:rPr lang="en-US" sz="3600" b="1" dirty="0" smtClean="0">
                <a:solidFill>
                  <a:srgbClr val="000000"/>
                </a:solidFill>
                <a:latin typeface="Times New Roman Bold"/>
                <a:ea typeface="Times New Roman Bold"/>
                <a:cs typeface="Times New Roman Bold"/>
                <a:sym typeface="Times New Roman Bold"/>
              </a:rPr>
              <a:t>First </a:t>
            </a:r>
            <a:r>
              <a:rPr lang="en-US" sz="3600" b="1" dirty="0">
                <a:solidFill>
                  <a:srgbClr val="000000"/>
                </a:solidFill>
                <a:latin typeface="Times New Roman Bold"/>
                <a:ea typeface="Times New Roman Bold"/>
                <a:cs typeface="Times New Roman Bold"/>
                <a:sym typeface="Times New Roman Bold"/>
              </a:rPr>
              <a:t>Generation (1946-1959) Machine language, Vacuum </a:t>
            </a:r>
            <a:r>
              <a:rPr lang="en-US" sz="3600" b="1" dirty="0" smtClean="0">
                <a:solidFill>
                  <a:srgbClr val="000000"/>
                </a:solidFill>
                <a:latin typeface="Times New Roman Bold"/>
                <a:ea typeface="Times New Roman Bold"/>
                <a:cs typeface="Times New Roman Bold"/>
                <a:sym typeface="Times New Roman Bold"/>
              </a:rPr>
              <a:t>Tube. Example: Mark-I, ENIAC</a:t>
            </a:r>
            <a:endParaRPr lang="en-US" sz="3600" b="1" dirty="0">
              <a:solidFill>
                <a:srgbClr val="000000"/>
              </a:solidFill>
              <a:latin typeface="Times New Roman Bold"/>
              <a:ea typeface="Times New Roman Bold"/>
              <a:cs typeface="Times New Roman Bold"/>
              <a:sym typeface="Times New Roman Bold"/>
            </a:endParaRPr>
          </a:p>
          <a:p>
            <a:pPr marL="669289" lvl="1" indent="-334645" algn="just">
              <a:lnSpc>
                <a:spcPts val="4339"/>
              </a:lnSpc>
              <a:buFont typeface="Arial"/>
              <a:buChar char="•"/>
            </a:pPr>
            <a:r>
              <a:rPr lang="en-US" sz="3600" b="1" dirty="0">
                <a:solidFill>
                  <a:srgbClr val="000000"/>
                </a:solidFill>
                <a:latin typeface="Times New Roman Bold"/>
                <a:ea typeface="Times New Roman Bold"/>
                <a:cs typeface="Times New Roman Bold"/>
                <a:sym typeface="Times New Roman Bold"/>
              </a:rPr>
              <a:t>Second Generation (1959- 1965): Assembly language, </a:t>
            </a:r>
            <a:r>
              <a:rPr lang="en-US" sz="3600" b="1" dirty="0" smtClean="0">
                <a:solidFill>
                  <a:srgbClr val="000000"/>
                </a:solidFill>
                <a:latin typeface="Times New Roman Bold"/>
                <a:ea typeface="Times New Roman Bold"/>
                <a:cs typeface="Times New Roman Bold"/>
                <a:sym typeface="Times New Roman Bold"/>
              </a:rPr>
              <a:t>Transistors. Example: IBM 1401</a:t>
            </a:r>
            <a:endParaRPr lang="en-US" sz="3600" b="1" dirty="0">
              <a:solidFill>
                <a:srgbClr val="000000"/>
              </a:solidFill>
              <a:latin typeface="Times New Roman Bold"/>
              <a:ea typeface="Times New Roman Bold"/>
              <a:cs typeface="Times New Roman Bold"/>
              <a:sym typeface="Times New Roman Bold"/>
            </a:endParaRPr>
          </a:p>
          <a:p>
            <a:pPr marL="669289" lvl="1" indent="-334645" algn="just">
              <a:lnSpc>
                <a:spcPts val="4339"/>
              </a:lnSpc>
              <a:buFont typeface="Arial"/>
              <a:buChar char="•"/>
            </a:pPr>
            <a:r>
              <a:rPr lang="en-US" sz="3600" b="1" dirty="0">
                <a:solidFill>
                  <a:srgbClr val="000000"/>
                </a:solidFill>
                <a:latin typeface="Times New Roman Bold"/>
                <a:ea typeface="Times New Roman Bold"/>
                <a:cs typeface="Times New Roman Bold"/>
                <a:sym typeface="Times New Roman Bold"/>
              </a:rPr>
              <a:t>Third Generation ( 1965- 1971): High level language, Integrated </a:t>
            </a:r>
            <a:r>
              <a:rPr lang="en-US" sz="3600" b="1" dirty="0" smtClean="0">
                <a:solidFill>
                  <a:srgbClr val="000000"/>
                </a:solidFill>
                <a:latin typeface="Times New Roman Bold"/>
                <a:ea typeface="Times New Roman Bold"/>
                <a:cs typeface="Times New Roman Bold"/>
                <a:sym typeface="Times New Roman Bold"/>
              </a:rPr>
              <a:t>Circuit. Example: IBM system/360</a:t>
            </a:r>
            <a:endParaRPr lang="en-US" sz="3600" b="1" dirty="0">
              <a:solidFill>
                <a:srgbClr val="000000"/>
              </a:solidFill>
              <a:latin typeface="Times New Roman Bold"/>
              <a:ea typeface="Times New Roman Bold"/>
              <a:cs typeface="Times New Roman Bold"/>
              <a:sym typeface="Times New Roman Bold"/>
            </a:endParaRPr>
          </a:p>
          <a:p>
            <a:pPr marL="669289" lvl="1" indent="-334645" algn="just">
              <a:lnSpc>
                <a:spcPts val="4339"/>
              </a:lnSpc>
              <a:buFont typeface="Arial"/>
              <a:buChar char="•"/>
            </a:pPr>
            <a:r>
              <a:rPr lang="en-US" sz="3600" b="1" dirty="0">
                <a:solidFill>
                  <a:srgbClr val="000000"/>
                </a:solidFill>
                <a:latin typeface="Times New Roman Bold"/>
                <a:ea typeface="Times New Roman Bold"/>
                <a:cs typeface="Times New Roman Bold"/>
                <a:sym typeface="Times New Roman Bold"/>
              </a:rPr>
              <a:t>Fourth Generation (1971-1980): High level language, </a:t>
            </a:r>
            <a:r>
              <a:rPr lang="en-US" sz="3600" b="1" dirty="0" smtClean="0">
                <a:solidFill>
                  <a:srgbClr val="000000"/>
                </a:solidFill>
                <a:latin typeface="Times New Roman Bold"/>
                <a:ea typeface="Times New Roman Bold"/>
                <a:cs typeface="Times New Roman Bold"/>
                <a:sym typeface="Times New Roman Bold"/>
              </a:rPr>
              <a:t>Microprocessor. Example: IBM </a:t>
            </a:r>
            <a:endParaRPr lang="en-US" sz="3600" b="1" dirty="0">
              <a:solidFill>
                <a:srgbClr val="000000"/>
              </a:solidFill>
              <a:latin typeface="Times New Roman Bold"/>
              <a:ea typeface="Times New Roman Bold"/>
              <a:cs typeface="Times New Roman Bold"/>
              <a:sym typeface="Times New Roman Bold"/>
            </a:endParaRPr>
          </a:p>
          <a:p>
            <a:pPr marL="669289" lvl="1" indent="-334645" algn="just">
              <a:lnSpc>
                <a:spcPts val="4339"/>
              </a:lnSpc>
              <a:buFont typeface="Arial"/>
              <a:buChar char="•"/>
            </a:pPr>
            <a:r>
              <a:rPr lang="en-US" sz="3600" b="1" dirty="0">
                <a:solidFill>
                  <a:srgbClr val="000000"/>
                </a:solidFill>
                <a:latin typeface="Times New Roman Bold"/>
                <a:ea typeface="Times New Roman Bold"/>
                <a:cs typeface="Times New Roman Bold"/>
                <a:sym typeface="Times New Roman Bold"/>
              </a:rPr>
              <a:t>Fifth Generation (1980- Future): Natural language, Bio-chips, ULSI(Ultra Large Scale Integration</a:t>
            </a:r>
            <a:r>
              <a:rPr lang="en-US" sz="3600" b="1" dirty="0" smtClean="0">
                <a:solidFill>
                  <a:srgbClr val="000000"/>
                </a:solidFill>
                <a:latin typeface="Times New Roman Bold"/>
                <a:ea typeface="Times New Roman Bold"/>
                <a:cs typeface="Times New Roman Bold"/>
                <a:sym typeface="Times New Roman Bold"/>
              </a:rPr>
              <a:t>) chips. Example: IBM Watson.</a:t>
            </a:r>
            <a:endParaRPr lang="en-US" sz="3600" b="1" dirty="0">
              <a:solidFill>
                <a:srgbClr val="000000"/>
              </a:solidFill>
              <a:latin typeface="Times New Roman Bold"/>
              <a:ea typeface="Times New Roman Bold"/>
              <a:cs typeface="Times New Roman Bold"/>
              <a:sym typeface="Times New Roman Bold"/>
            </a:endParaRPr>
          </a:p>
        </p:txBody>
      </p:sp>
    </p:spTree>
  </p:cSld>
  <p:clrMapOvr>
    <a:masterClrMapping/>
  </p:clrMapOvr>
  <p:transition>
    <p:cover dir="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92549" y="249388"/>
            <a:ext cx="14303090" cy="1552961"/>
          </a:xfrm>
          <a:prstGeom prst="rect">
            <a:avLst/>
          </a:prstGeom>
        </p:spPr>
        <p:txBody>
          <a:bodyPr lIns="0" tIns="0" rIns="0" bIns="0" rtlCol="0" anchor="t">
            <a:spAutoFit/>
          </a:bodyPr>
          <a:lstStyle/>
          <a:p>
            <a:pPr algn="ctr">
              <a:lnSpc>
                <a:spcPts val="11818"/>
              </a:lnSpc>
            </a:pPr>
            <a:r>
              <a:rPr lang="en-US" sz="10101">
                <a:solidFill>
                  <a:srgbClr val="000000"/>
                </a:solidFill>
                <a:latin typeface="Times New Roman"/>
                <a:ea typeface="Times New Roman"/>
                <a:cs typeface="Times New Roman"/>
                <a:sym typeface="Times New Roman"/>
              </a:rPr>
              <a:t>Classification of Computer</a:t>
            </a:r>
          </a:p>
        </p:txBody>
      </p:sp>
      <p:sp>
        <p:nvSpPr>
          <p:cNvPr id="5" name="TextBox 5"/>
          <p:cNvSpPr txBox="1"/>
          <p:nvPr/>
        </p:nvSpPr>
        <p:spPr>
          <a:xfrm>
            <a:off x="423721" y="1836625"/>
            <a:ext cx="18052208" cy="7607935"/>
          </a:xfrm>
          <a:prstGeom prst="rect">
            <a:avLst/>
          </a:prstGeom>
        </p:spPr>
        <p:txBody>
          <a:bodyPr lIns="0" tIns="0" rIns="0" bIns="0" rtlCol="0" anchor="t">
            <a:spAutoFit/>
          </a:bodyPr>
          <a:lstStyle/>
          <a:p>
            <a:pPr marL="669289" lvl="1" indent="-334645" algn="just">
              <a:lnSpc>
                <a:spcPts val="4339"/>
              </a:lnSpc>
              <a:buAutoNum type="arabicPeriod"/>
            </a:pPr>
            <a:r>
              <a:rPr lang="en-US" sz="3099" b="1">
                <a:solidFill>
                  <a:srgbClr val="000000"/>
                </a:solidFill>
                <a:latin typeface="Times New Roman Bold"/>
                <a:ea typeface="Times New Roman Bold"/>
                <a:cs typeface="Times New Roman Bold"/>
                <a:sym typeface="Times New Roman Bold"/>
              </a:rPr>
              <a:t>Based on the Working principles</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Digital Computer</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Analog Computer</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Hybrid Computer</a:t>
            </a:r>
          </a:p>
          <a:p>
            <a:pPr algn="just">
              <a:lnSpc>
                <a:spcPts val="4339"/>
              </a:lnSpc>
            </a:pPr>
            <a:r>
              <a:rPr lang="en-US" sz="3099" b="1">
                <a:solidFill>
                  <a:srgbClr val="000000"/>
                </a:solidFill>
                <a:latin typeface="Times New Roman Bold"/>
                <a:ea typeface="Times New Roman Bold"/>
                <a:cs typeface="Times New Roman Bold"/>
                <a:sym typeface="Times New Roman Bold"/>
              </a:rPr>
              <a:t>2. based on power and size</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Supercomputer</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Mainframe Computer</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Mini Computer</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Micro Computer</a:t>
            </a:r>
          </a:p>
          <a:p>
            <a:pPr algn="just">
              <a:lnSpc>
                <a:spcPts val="4339"/>
              </a:lnSpc>
            </a:pPr>
            <a:r>
              <a:rPr lang="en-US" sz="3099" b="1">
                <a:solidFill>
                  <a:srgbClr val="000000"/>
                </a:solidFill>
                <a:latin typeface="Times New Roman Bold"/>
                <a:ea typeface="Times New Roman Bold"/>
                <a:cs typeface="Times New Roman Bold"/>
                <a:sym typeface="Times New Roman Bold"/>
              </a:rPr>
              <a:t>3. On the basis of the brand</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IBM PC</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IBM compatible</a:t>
            </a:r>
          </a:p>
          <a:p>
            <a:pPr marL="669289" lvl="1" indent="-334645" algn="just">
              <a:lnSpc>
                <a:spcPts val="4339"/>
              </a:lnSpc>
              <a:buFont typeface="Arial"/>
              <a:buChar char="•"/>
            </a:pPr>
            <a:r>
              <a:rPr lang="en-US" sz="3099" b="1">
                <a:solidFill>
                  <a:srgbClr val="000000"/>
                </a:solidFill>
                <a:latin typeface="Times New Roman Bold"/>
                <a:ea typeface="Times New Roman Bold"/>
                <a:cs typeface="Times New Roman Bold"/>
                <a:sym typeface="Times New Roman Bold"/>
              </a:rPr>
              <a:t>Apple/Macintosh</a:t>
            </a:r>
          </a:p>
          <a:p>
            <a:pPr algn="just">
              <a:lnSpc>
                <a:spcPts val="4339"/>
              </a:lnSpc>
            </a:pPr>
            <a:endParaRPr lang="en-US" sz="3099" b="1">
              <a:solidFill>
                <a:srgbClr val="000000"/>
              </a:solidFill>
              <a:latin typeface="Times New Roman Bold"/>
              <a:ea typeface="Times New Roman Bold"/>
              <a:cs typeface="Times New Roman Bold"/>
              <a:sym typeface="Times New Roman Bold"/>
            </a:endParaRPr>
          </a:p>
        </p:txBody>
      </p:sp>
    </p:spTree>
  </p:cSld>
  <p:clrMapOvr>
    <a:masterClrMapping/>
  </p:clrMapOvr>
  <p:transition>
    <p:cover dir="rd"/>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3" name="Freeform 3"/>
          <p:cNvSpPr/>
          <p:nvPr/>
        </p:nvSpPr>
        <p:spPr>
          <a:xfrm>
            <a:off x="16295638" y="8801100"/>
            <a:ext cx="2439673" cy="2494522"/>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92549" y="-190500"/>
            <a:ext cx="14303090" cy="1552961"/>
          </a:xfrm>
          <a:prstGeom prst="rect">
            <a:avLst/>
          </a:prstGeom>
        </p:spPr>
        <p:txBody>
          <a:bodyPr lIns="0" tIns="0" rIns="0" bIns="0" rtlCol="0" anchor="t">
            <a:spAutoFit/>
          </a:bodyPr>
          <a:lstStyle/>
          <a:p>
            <a:pPr algn="ctr">
              <a:lnSpc>
                <a:spcPts val="11818"/>
              </a:lnSpc>
            </a:pPr>
            <a:r>
              <a:rPr lang="en-US" sz="10101" dirty="0">
                <a:solidFill>
                  <a:srgbClr val="000000"/>
                </a:solidFill>
                <a:latin typeface="Times New Roman"/>
                <a:ea typeface="Times New Roman"/>
                <a:cs typeface="Times New Roman"/>
                <a:sym typeface="Times New Roman"/>
              </a:rPr>
              <a:t>Mainframe Computer</a:t>
            </a:r>
          </a:p>
        </p:txBody>
      </p:sp>
      <p:sp>
        <p:nvSpPr>
          <p:cNvPr id="5" name="TextBox 5"/>
          <p:cNvSpPr txBox="1"/>
          <p:nvPr/>
        </p:nvSpPr>
        <p:spPr>
          <a:xfrm>
            <a:off x="423721" y="1257300"/>
            <a:ext cx="17358525" cy="8778237"/>
          </a:xfrm>
          <a:prstGeom prst="rect">
            <a:avLst/>
          </a:prstGeom>
        </p:spPr>
        <p:txBody>
          <a:bodyPr lIns="0" tIns="0" rIns="0" bIns="0" rtlCol="0" anchor="t">
            <a:spAutoFit/>
          </a:bodyPr>
          <a:lstStyle/>
          <a:p>
            <a:pPr algn="just">
              <a:lnSpc>
                <a:spcPts val="4339"/>
              </a:lnSpc>
            </a:pPr>
            <a:r>
              <a:rPr lang="en-US" sz="3099" b="1" dirty="0">
                <a:solidFill>
                  <a:srgbClr val="000000"/>
                </a:solidFill>
                <a:latin typeface="Times New Roman Bold"/>
                <a:ea typeface="Times New Roman Bold"/>
                <a:cs typeface="Times New Roman Bold"/>
                <a:sym typeface="Times New Roman Bold"/>
              </a:rPr>
              <a:t>A mainframe computer is a </a:t>
            </a:r>
            <a:r>
              <a:rPr lang="en-US" sz="3099" b="1" dirty="0" smtClean="0">
                <a:solidFill>
                  <a:srgbClr val="000000"/>
                </a:solidFill>
                <a:latin typeface="Times New Roman Bold"/>
                <a:ea typeface="Times New Roman Bold"/>
                <a:cs typeface="Times New Roman Bold"/>
                <a:sym typeface="Times New Roman Bold"/>
              </a:rPr>
              <a:t>powerful, </a:t>
            </a:r>
            <a:r>
              <a:rPr lang="en-US" sz="3099" b="1" dirty="0">
                <a:solidFill>
                  <a:srgbClr val="000000"/>
                </a:solidFill>
                <a:latin typeface="Times New Roman Bold"/>
                <a:ea typeface="Times New Roman Bold"/>
                <a:cs typeface="Times New Roman Bold"/>
                <a:sym typeface="Times New Roman Bold"/>
              </a:rPr>
              <a:t>large-scale system designed to process huge amounts of data and run many programs at the same time. It is mainly used by large organizations, as it supports multiple users simultaneously without slowing down work. </a:t>
            </a:r>
          </a:p>
          <a:p>
            <a:pPr algn="just">
              <a:lnSpc>
                <a:spcPts val="4339"/>
              </a:lnSpc>
            </a:pPr>
            <a:r>
              <a:rPr lang="en-US" sz="3099" b="1" dirty="0">
                <a:solidFill>
                  <a:srgbClr val="000000"/>
                </a:solidFill>
                <a:latin typeface="Times New Roman Bold"/>
                <a:ea typeface="Times New Roman Bold"/>
                <a:cs typeface="Times New Roman Bold"/>
                <a:sym typeface="Times New Roman Bold"/>
              </a:rPr>
              <a:t>Characters:</a:t>
            </a:r>
          </a:p>
          <a:p>
            <a:pPr algn="just">
              <a:lnSpc>
                <a:spcPts val="4339"/>
              </a:lnSpc>
            </a:pPr>
            <a:r>
              <a:rPr lang="en-US" sz="3099" b="1" dirty="0">
                <a:solidFill>
                  <a:srgbClr val="000000"/>
                </a:solidFill>
                <a:latin typeface="Times New Roman Bold"/>
                <a:ea typeface="Times New Roman Bold"/>
                <a:cs typeface="Times New Roman Bold"/>
                <a:sym typeface="Times New Roman Bold"/>
              </a:rPr>
              <a:t>Speed: </a:t>
            </a:r>
            <a:r>
              <a:rPr lang="en-US" sz="3099" dirty="0">
                <a:solidFill>
                  <a:srgbClr val="000000"/>
                </a:solidFill>
                <a:latin typeface="Times New Roman"/>
                <a:ea typeface="Times New Roman"/>
                <a:cs typeface="Times New Roman"/>
                <a:sym typeface="Times New Roman"/>
              </a:rPr>
              <a:t>It is used to operate a high speeds and can execute billions of instructions per second. </a:t>
            </a:r>
            <a:r>
              <a:rPr lang="en-US" sz="3099" dirty="0" smtClean="0">
                <a:solidFill>
                  <a:srgbClr val="000000"/>
                </a:solidFill>
                <a:latin typeface="Times New Roman"/>
                <a:ea typeface="Times New Roman"/>
                <a:cs typeface="Times New Roman"/>
                <a:sym typeface="Times New Roman"/>
              </a:rPr>
              <a:t>It </a:t>
            </a:r>
            <a:r>
              <a:rPr lang="en-US" sz="3099" dirty="0">
                <a:solidFill>
                  <a:srgbClr val="000000"/>
                </a:solidFill>
                <a:latin typeface="Times New Roman"/>
                <a:ea typeface="Times New Roman"/>
                <a:cs typeface="Times New Roman"/>
                <a:sym typeface="Times New Roman"/>
              </a:rPr>
              <a:t>is used to measure the speed in MIPS. </a:t>
            </a:r>
          </a:p>
          <a:p>
            <a:pPr algn="just">
              <a:lnSpc>
                <a:spcPts val="4339"/>
              </a:lnSpc>
            </a:pPr>
            <a:r>
              <a:rPr lang="en-US" sz="3099" b="1" dirty="0">
                <a:solidFill>
                  <a:srgbClr val="000000"/>
                </a:solidFill>
                <a:latin typeface="Times New Roman Bold"/>
                <a:ea typeface="Times New Roman Bold"/>
                <a:cs typeface="Times New Roman Bold"/>
                <a:sym typeface="Times New Roman Bold"/>
              </a:rPr>
              <a:t>Storage: </a:t>
            </a:r>
            <a:r>
              <a:rPr lang="en-US" sz="3099" dirty="0">
                <a:solidFill>
                  <a:srgbClr val="000000"/>
                </a:solidFill>
                <a:latin typeface="Times New Roman"/>
                <a:ea typeface="Times New Roman"/>
                <a:cs typeface="Times New Roman"/>
                <a:sym typeface="Times New Roman"/>
              </a:rPr>
              <a:t>It can store a vast amount of information. It can store data in the range of terabytes to petabytes.</a:t>
            </a:r>
          </a:p>
          <a:p>
            <a:pPr algn="just">
              <a:lnSpc>
                <a:spcPts val="4339"/>
              </a:lnSpc>
            </a:pPr>
            <a:r>
              <a:rPr lang="en-US" sz="3099" b="1" dirty="0">
                <a:solidFill>
                  <a:srgbClr val="000000"/>
                </a:solidFill>
                <a:latin typeface="Times New Roman Bold"/>
                <a:ea typeface="Times New Roman Bold"/>
                <a:cs typeface="Times New Roman Bold"/>
                <a:sym typeface="Times New Roman Bold"/>
              </a:rPr>
              <a:t>Size: </a:t>
            </a:r>
            <a:r>
              <a:rPr lang="en-US" sz="3099" dirty="0">
                <a:solidFill>
                  <a:srgbClr val="000000"/>
                </a:solidFill>
                <a:latin typeface="Times New Roman"/>
                <a:ea typeface="Times New Roman"/>
                <a:cs typeface="Times New Roman"/>
                <a:sym typeface="Times New Roman"/>
              </a:rPr>
              <a:t>There are big in size  and can occupy entire room or floor. </a:t>
            </a:r>
          </a:p>
          <a:p>
            <a:pPr algn="just">
              <a:lnSpc>
                <a:spcPts val="4339"/>
              </a:lnSpc>
            </a:pPr>
            <a:r>
              <a:rPr lang="en-US" sz="3099" b="1" dirty="0">
                <a:solidFill>
                  <a:srgbClr val="000000"/>
                </a:solidFill>
                <a:latin typeface="Times New Roman Bold"/>
                <a:ea typeface="Times New Roman Bold"/>
                <a:cs typeface="Times New Roman Bold"/>
                <a:sym typeface="Times New Roman Bold"/>
              </a:rPr>
              <a:t>Multi-user capability:  </a:t>
            </a:r>
            <a:r>
              <a:rPr lang="en-US" sz="3099" dirty="0">
                <a:solidFill>
                  <a:srgbClr val="000000"/>
                </a:solidFill>
                <a:latin typeface="Times New Roman"/>
                <a:ea typeface="Times New Roman"/>
                <a:cs typeface="Times New Roman"/>
                <a:sym typeface="Times New Roman"/>
              </a:rPr>
              <a:t>It allow hundreds or thousand of users </a:t>
            </a:r>
            <a:r>
              <a:rPr lang="en-US" sz="3099" dirty="0" smtClean="0">
                <a:solidFill>
                  <a:srgbClr val="000000"/>
                </a:solidFill>
                <a:latin typeface="Times New Roman"/>
                <a:ea typeface="Times New Roman"/>
                <a:cs typeface="Times New Roman"/>
                <a:sym typeface="Times New Roman"/>
              </a:rPr>
              <a:t>to </a:t>
            </a:r>
            <a:r>
              <a:rPr lang="en-US" sz="3099" dirty="0">
                <a:solidFill>
                  <a:srgbClr val="000000"/>
                </a:solidFill>
                <a:latin typeface="Times New Roman"/>
                <a:ea typeface="Times New Roman"/>
                <a:cs typeface="Times New Roman"/>
                <a:sym typeface="Times New Roman"/>
              </a:rPr>
              <a:t>work at the same time. </a:t>
            </a:r>
          </a:p>
          <a:p>
            <a:pPr algn="just">
              <a:lnSpc>
                <a:spcPts val="4339"/>
              </a:lnSpc>
            </a:pPr>
            <a:r>
              <a:rPr lang="en-US" sz="3099" dirty="0" smtClean="0">
                <a:solidFill>
                  <a:srgbClr val="000000"/>
                </a:solidFill>
                <a:latin typeface="Times New Roman"/>
                <a:ea typeface="Times New Roman"/>
                <a:cs typeface="Times New Roman"/>
                <a:sym typeface="Times New Roman"/>
              </a:rPr>
              <a:t>Multiprocessing: It has advance multiprocessing capabilities in which multiple CPU and support for parallel processing to manage numerous task. </a:t>
            </a:r>
            <a:endParaRPr lang="en-US" sz="3099" dirty="0">
              <a:solidFill>
                <a:srgbClr val="000000"/>
              </a:solidFill>
              <a:latin typeface="Times New Roman"/>
              <a:ea typeface="Times New Roman"/>
              <a:cs typeface="Times New Roman"/>
              <a:sym typeface="Times New Roman"/>
            </a:endParaRPr>
          </a:p>
          <a:p>
            <a:pPr algn="just">
              <a:lnSpc>
                <a:spcPts val="4339"/>
              </a:lnSpc>
            </a:pPr>
            <a:r>
              <a:rPr lang="en-US" sz="3099" dirty="0">
                <a:solidFill>
                  <a:srgbClr val="000000"/>
                </a:solidFill>
                <a:latin typeface="Times New Roman"/>
                <a:ea typeface="Times New Roman"/>
                <a:cs typeface="Times New Roman"/>
                <a:sym typeface="Times New Roman"/>
              </a:rPr>
              <a:t>Application area:</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Banks</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Airlines</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Railways</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Big organization </a:t>
            </a:r>
          </a:p>
        </p:txBody>
      </p:sp>
    </p:spTree>
  </p:cSld>
  <p:clrMapOvr>
    <a:masterClrMapping/>
  </p:clrMapOvr>
  <p:transition>
    <p:cover dir="rd"/>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92549" y="249388"/>
            <a:ext cx="14303090" cy="1552961"/>
          </a:xfrm>
          <a:prstGeom prst="rect">
            <a:avLst/>
          </a:prstGeom>
        </p:spPr>
        <p:txBody>
          <a:bodyPr lIns="0" tIns="0" rIns="0" bIns="0" rtlCol="0" anchor="t">
            <a:spAutoFit/>
          </a:bodyPr>
          <a:lstStyle/>
          <a:p>
            <a:pPr algn="ctr">
              <a:lnSpc>
                <a:spcPts val="11818"/>
              </a:lnSpc>
            </a:pPr>
            <a:r>
              <a:rPr lang="en-US" sz="10101">
                <a:solidFill>
                  <a:srgbClr val="000000"/>
                </a:solidFill>
                <a:latin typeface="Times New Roman"/>
                <a:ea typeface="Times New Roman"/>
                <a:cs typeface="Times New Roman"/>
                <a:sym typeface="Times New Roman"/>
              </a:rPr>
              <a:t>Mini Computer</a:t>
            </a:r>
          </a:p>
        </p:txBody>
      </p:sp>
      <p:sp>
        <p:nvSpPr>
          <p:cNvPr id="5" name="TextBox 5"/>
          <p:cNvSpPr txBox="1"/>
          <p:nvPr/>
        </p:nvSpPr>
        <p:spPr>
          <a:xfrm>
            <a:off x="423721" y="1836625"/>
            <a:ext cx="17358525" cy="8150860"/>
          </a:xfrm>
          <a:prstGeom prst="rect">
            <a:avLst/>
          </a:prstGeom>
        </p:spPr>
        <p:txBody>
          <a:bodyPr lIns="0" tIns="0" rIns="0" bIns="0" rtlCol="0" anchor="t">
            <a:spAutoFit/>
          </a:bodyPr>
          <a:lstStyle/>
          <a:p>
            <a:pPr algn="just">
              <a:lnSpc>
                <a:spcPts val="4339"/>
              </a:lnSpc>
            </a:pPr>
            <a:r>
              <a:rPr lang="en-US" sz="3099" dirty="0">
                <a:solidFill>
                  <a:srgbClr val="000000"/>
                </a:solidFill>
                <a:latin typeface="Times New Roman"/>
                <a:ea typeface="Times New Roman"/>
                <a:cs typeface="Times New Roman"/>
                <a:sym typeface="Times New Roman"/>
              </a:rPr>
              <a:t>The capabilities of a minicomputer are somewhere between mainframe and a microcomputer. for this reason, they are also known as mid-range computers as they are small in size.  They are designed to handle moderate to heavy processing of data. </a:t>
            </a:r>
          </a:p>
          <a:p>
            <a:pPr algn="just">
              <a:lnSpc>
                <a:spcPts val="4339"/>
              </a:lnSpc>
            </a:pPr>
            <a:r>
              <a:rPr lang="en-US" sz="3099" dirty="0">
                <a:solidFill>
                  <a:srgbClr val="000000"/>
                </a:solidFill>
                <a:latin typeface="Times New Roman"/>
                <a:ea typeface="Times New Roman"/>
                <a:cs typeface="Times New Roman"/>
                <a:sym typeface="Times New Roman"/>
              </a:rPr>
              <a:t>Characteristic</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Speed: The speed range from 1000 MIPS to 10,000 MIPS. The exact speed depends on the specific model and the use of technology. </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Storage capacity: It has storage capabilities' from tens to hundreds of GB, with some extend to TB.</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Size: They are more compact than mainframes. </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Multi user capability: It supports multiple user but fewer than mainframes. </a:t>
            </a:r>
          </a:p>
          <a:p>
            <a:pPr algn="just">
              <a:lnSpc>
                <a:spcPts val="4339"/>
              </a:lnSpc>
            </a:pPr>
            <a:endParaRPr lang="en-US" sz="3099" dirty="0">
              <a:solidFill>
                <a:srgbClr val="000000"/>
              </a:solidFill>
              <a:latin typeface="Times New Roman"/>
              <a:ea typeface="Times New Roman"/>
              <a:cs typeface="Times New Roman"/>
              <a:sym typeface="Times New Roman"/>
            </a:endParaRPr>
          </a:p>
          <a:p>
            <a:pPr algn="just">
              <a:lnSpc>
                <a:spcPts val="4339"/>
              </a:lnSpc>
            </a:pPr>
            <a:r>
              <a:rPr lang="en-US" sz="3099" dirty="0">
                <a:solidFill>
                  <a:srgbClr val="000000"/>
                </a:solidFill>
                <a:latin typeface="Times New Roman"/>
                <a:ea typeface="Times New Roman"/>
                <a:cs typeface="Times New Roman"/>
                <a:sym typeface="Times New Roman"/>
              </a:rPr>
              <a:t>Application area:</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Factories and industries</a:t>
            </a:r>
          </a:p>
          <a:p>
            <a:pPr marL="669289" lvl="1" indent="-334645" algn="just">
              <a:lnSpc>
                <a:spcPts val="4339"/>
              </a:lnSpc>
              <a:buFont typeface="Arial"/>
              <a:buChar char="•"/>
            </a:pPr>
            <a:r>
              <a:rPr lang="en-US" sz="3099" dirty="0" smtClean="0">
                <a:solidFill>
                  <a:srgbClr val="000000"/>
                </a:solidFill>
                <a:latin typeface="Times New Roman"/>
                <a:ea typeface="Times New Roman"/>
                <a:cs typeface="Times New Roman"/>
                <a:sym typeface="Times New Roman"/>
              </a:rPr>
              <a:t>Research </a:t>
            </a:r>
            <a:r>
              <a:rPr lang="en-US" sz="3099" dirty="0">
                <a:solidFill>
                  <a:srgbClr val="000000"/>
                </a:solidFill>
                <a:latin typeface="Times New Roman"/>
                <a:ea typeface="Times New Roman"/>
                <a:cs typeface="Times New Roman"/>
                <a:sym typeface="Times New Roman"/>
              </a:rPr>
              <a:t>laboratories</a:t>
            </a:r>
          </a:p>
          <a:p>
            <a:pPr marL="669289" lvl="1" indent="-334645" algn="just">
              <a:lnSpc>
                <a:spcPts val="4339"/>
              </a:lnSpc>
              <a:buFont typeface="Arial"/>
              <a:buChar char="•"/>
            </a:pPr>
            <a:r>
              <a:rPr lang="en-US" sz="3099" dirty="0" smtClean="0">
                <a:solidFill>
                  <a:srgbClr val="000000"/>
                </a:solidFill>
                <a:latin typeface="Times New Roman"/>
                <a:ea typeface="Times New Roman"/>
                <a:cs typeface="Times New Roman"/>
                <a:sym typeface="Times New Roman"/>
              </a:rPr>
              <a:t>Telecommunication</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Airlines</a:t>
            </a:r>
          </a:p>
        </p:txBody>
      </p:sp>
    </p:spTree>
  </p:cSld>
  <p:clrMapOvr>
    <a:masterClrMapping/>
  </p:clrMapOvr>
  <p:transition>
    <p:cover dir="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92549" y="249388"/>
            <a:ext cx="14303090" cy="1552961"/>
          </a:xfrm>
          <a:prstGeom prst="rect">
            <a:avLst/>
          </a:prstGeom>
        </p:spPr>
        <p:txBody>
          <a:bodyPr lIns="0" tIns="0" rIns="0" bIns="0" rtlCol="0" anchor="t">
            <a:spAutoFit/>
          </a:bodyPr>
          <a:lstStyle/>
          <a:p>
            <a:pPr algn="ctr">
              <a:lnSpc>
                <a:spcPts val="11818"/>
              </a:lnSpc>
            </a:pPr>
            <a:r>
              <a:rPr lang="en-US" sz="10101">
                <a:solidFill>
                  <a:srgbClr val="000000"/>
                </a:solidFill>
                <a:latin typeface="Times New Roman"/>
                <a:ea typeface="Times New Roman"/>
                <a:cs typeface="Times New Roman"/>
                <a:sym typeface="Times New Roman"/>
              </a:rPr>
              <a:t>Micro Computer</a:t>
            </a:r>
          </a:p>
        </p:txBody>
      </p:sp>
      <p:sp>
        <p:nvSpPr>
          <p:cNvPr id="5" name="TextBox 5"/>
          <p:cNvSpPr txBox="1"/>
          <p:nvPr/>
        </p:nvSpPr>
        <p:spPr>
          <a:xfrm>
            <a:off x="423721" y="1836625"/>
            <a:ext cx="17358525" cy="8150860"/>
          </a:xfrm>
          <a:prstGeom prst="rect">
            <a:avLst/>
          </a:prstGeom>
        </p:spPr>
        <p:txBody>
          <a:bodyPr lIns="0" tIns="0" rIns="0" bIns="0" rtlCol="0" anchor="t">
            <a:spAutoFit/>
          </a:bodyPr>
          <a:lstStyle/>
          <a:p>
            <a:pPr algn="just">
              <a:lnSpc>
                <a:spcPts val="4339"/>
              </a:lnSpc>
            </a:pPr>
            <a:r>
              <a:rPr lang="en-US" sz="3099">
                <a:solidFill>
                  <a:srgbClr val="000000"/>
                </a:solidFill>
                <a:latin typeface="Times New Roman"/>
                <a:ea typeface="Times New Roman"/>
                <a:cs typeface="Times New Roman"/>
                <a:sym typeface="Times New Roman"/>
              </a:rPr>
              <a:t>The computer, which is based on a microprocessor, is called a microcomputer. it is a small, low-cost digital computer. It requires small space. It has a central processing unit on a single chip. They are designed for individual and known as personal computer (PC). Example: Intel core i7, Apple McBook PRO ETC. </a:t>
            </a:r>
          </a:p>
          <a:p>
            <a:pPr algn="just">
              <a:lnSpc>
                <a:spcPts val="4339"/>
              </a:lnSpc>
            </a:pPr>
            <a:r>
              <a:rPr lang="en-US" sz="3099">
                <a:solidFill>
                  <a:srgbClr val="000000"/>
                </a:solidFill>
                <a:latin typeface="Times New Roman"/>
                <a:ea typeface="Times New Roman"/>
                <a:cs typeface="Times New Roman"/>
                <a:sym typeface="Times New Roman"/>
              </a:rPr>
              <a:t>Characteristics</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Speed: It has varying speed depending on the processor used . </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Storage: It has storage capacity ranging from hundreds of GB to several TB. </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Size: They come in various sizes like laptop, desktop, and tablets.</a:t>
            </a:r>
          </a:p>
          <a:p>
            <a:pPr algn="just">
              <a:lnSpc>
                <a:spcPts val="4339"/>
              </a:lnSpc>
            </a:pPr>
            <a:endParaRPr lang="en-US" sz="3099">
              <a:solidFill>
                <a:srgbClr val="000000"/>
              </a:solidFill>
              <a:latin typeface="Times New Roman"/>
              <a:ea typeface="Times New Roman"/>
              <a:cs typeface="Times New Roman"/>
              <a:sym typeface="Times New Roman"/>
            </a:endParaRPr>
          </a:p>
          <a:p>
            <a:pPr algn="just">
              <a:lnSpc>
                <a:spcPts val="4339"/>
              </a:lnSpc>
            </a:pPr>
            <a:r>
              <a:rPr lang="en-US" sz="3099">
                <a:solidFill>
                  <a:srgbClr val="000000"/>
                </a:solidFill>
                <a:latin typeface="Times New Roman"/>
                <a:ea typeface="Times New Roman"/>
                <a:cs typeface="Times New Roman"/>
                <a:sym typeface="Times New Roman"/>
              </a:rPr>
              <a:t>Application area:</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Home</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School </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Office</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Shops</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Banks</a:t>
            </a:r>
          </a:p>
          <a:p>
            <a:pPr marL="669289" lvl="1" indent="-334645" algn="just">
              <a:lnSpc>
                <a:spcPts val="4339"/>
              </a:lnSpc>
              <a:buFont typeface="Arial"/>
              <a:buChar char="•"/>
            </a:pPr>
            <a:r>
              <a:rPr lang="en-US" sz="3099">
                <a:solidFill>
                  <a:srgbClr val="000000"/>
                </a:solidFill>
                <a:latin typeface="Times New Roman"/>
                <a:ea typeface="Times New Roman"/>
                <a:cs typeface="Times New Roman"/>
                <a:sym typeface="Times New Roman"/>
              </a:rPr>
              <a:t>Hospital</a:t>
            </a:r>
          </a:p>
        </p:txBody>
      </p:sp>
    </p:spTree>
  </p:cSld>
  <p:clrMapOvr>
    <a:masterClrMapping/>
  </p:clrMapOvr>
  <p:transition>
    <p:cover dir="rd"/>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4" name="TextBox 4"/>
          <p:cNvSpPr txBox="1"/>
          <p:nvPr/>
        </p:nvSpPr>
        <p:spPr>
          <a:xfrm>
            <a:off x="1992549" y="249388"/>
            <a:ext cx="14303090" cy="1552961"/>
          </a:xfrm>
          <a:prstGeom prst="rect">
            <a:avLst/>
          </a:prstGeom>
        </p:spPr>
        <p:txBody>
          <a:bodyPr lIns="0" tIns="0" rIns="0" bIns="0" rtlCol="0" anchor="t">
            <a:spAutoFit/>
          </a:bodyPr>
          <a:lstStyle/>
          <a:p>
            <a:pPr algn="ctr">
              <a:lnSpc>
                <a:spcPts val="11818"/>
              </a:lnSpc>
            </a:pPr>
            <a:r>
              <a:rPr lang="en-US" sz="10101" dirty="0">
                <a:solidFill>
                  <a:srgbClr val="000000"/>
                </a:solidFill>
                <a:latin typeface="Times New Roman"/>
                <a:ea typeface="Times New Roman"/>
                <a:cs typeface="Times New Roman"/>
                <a:sym typeface="Times New Roman"/>
              </a:rPr>
              <a:t>Software</a:t>
            </a:r>
          </a:p>
        </p:txBody>
      </p:sp>
      <p:sp>
        <p:nvSpPr>
          <p:cNvPr id="5" name="TextBox 5"/>
          <p:cNvSpPr txBox="1"/>
          <p:nvPr/>
        </p:nvSpPr>
        <p:spPr>
          <a:xfrm>
            <a:off x="423721" y="1836625"/>
            <a:ext cx="17443675" cy="7168629"/>
          </a:xfrm>
          <a:prstGeom prst="rect">
            <a:avLst/>
          </a:prstGeom>
        </p:spPr>
        <p:txBody>
          <a:bodyPr lIns="0" tIns="0" rIns="0" bIns="0" rtlCol="0" anchor="t">
            <a:spAutoFit/>
          </a:bodyPr>
          <a:lstStyle/>
          <a:p>
            <a:pPr marL="334644" lvl="1" algn="just">
              <a:lnSpc>
                <a:spcPts val="4339"/>
              </a:lnSpc>
            </a:pPr>
            <a:r>
              <a:rPr lang="en-US" sz="3600" dirty="0" smtClean="0">
                <a:solidFill>
                  <a:srgbClr val="000000"/>
                </a:solidFill>
                <a:latin typeface="Times New Roman Bold"/>
                <a:ea typeface="Times New Roman Bold"/>
                <a:cs typeface="Times New Roman Bold"/>
                <a:sym typeface="Times New Roman Bold"/>
              </a:rPr>
              <a:t>Software is a set of instructions that tell what a task a computer system must perform.</a:t>
            </a:r>
            <a:endParaRPr lang="en-US" sz="3600" dirty="0">
              <a:solidFill>
                <a:srgbClr val="000000"/>
              </a:solidFill>
              <a:latin typeface="Times New Roman Bold"/>
              <a:ea typeface="Times New Roman Bold"/>
              <a:cs typeface="Times New Roman Bold"/>
              <a:sym typeface="Times New Roman Bold"/>
            </a:endParaRPr>
          </a:p>
          <a:p>
            <a:pPr algn="just">
              <a:lnSpc>
                <a:spcPts val="4339"/>
              </a:lnSpc>
            </a:pPr>
            <a:r>
              <a:rPr lang="en-US" sz="3600" b="1" dirty="0" smtClean="0">
                <a:solidFill>
                  <a:srgbClr val="000000"/>
                </a:solidFill>
                <a:latin typeface="Times New Roman Bold"/>
                <a:ea typeface="Times New Roman Bold"/>
                <a:cs typeface="Times New Roman Bold"/>
                <a:sym typeface="Times New Roman Bold"/>
              </a:rPr>
              <a:t>Types </a:t>
            </a:r>
            <a:r>
              <a:rPr lang="en-US" sz="3600" b="1" dirty="0">
                <a:solidFill>
                  <a:srgbClr val="000000"/>
                </a:solidFill>
                <a:latin typeface="Times New Roman Bold"/>
                <a:ea typeface="Times New Roman Bold"/>
                <a:cs typeface="Times New Roman Bold"/>
                <a:sym typeface="Times New Roman Bold"/>
              </a:rPr>
              <a:t>of software</a:t>
            </a:r>
          </a:p>
          <a:p>
            <a:pPr marL="669289" lvl="1" indent="-334645" algn="just">
              <a:lnSpc>
                <a:spcPts val="4339"/>
              </a:lnSpc>
              <a:buAutoNum type="arabicPeriod"/>
            </a:pPr>
            <a:r>
              <a:rPr lang="en-US" sz="3600" b="1" dirty="0">
                <a:solidFill>
                  <a:srgbClr val="FF0000"/>
                </a:solidFill>
                <a:latin typeface="Times New Roman Bold"/>
                <a:ea typeface="Times New Roman Bold"/>
                <a:cs typeface="Times New Roman Bold"/>
                <a:sym typeface="Times New Roman Bold"/>
              </a:rPr>
              <a:t>System software:</a:t>
            </a:r>
            <a:r>
              <a:rPr lang="en-US" sz="3600" b="1" dirty="0">
                <a:solidFill>
                  <a:srgbClr val="000000"/>
                </a:solidFill>
                <a:latin typeface="Times New Roman Bold"/>
                <a:ea typeface="Times New Roman Bold"/>
                <a:cs typeface="Times New Roman Bold"/>
                <a:sym typeface="Times New Roman Bold"/>
              </a:rPr>
              <a:t> </a:t>
            </a:r>
            <a:r>
              <a:rPr lang="en-US" sz="3600" dirty="0">
                <a:solidFill>
                  <a:srgbClr val="000000"/>
                </a:solidFill>
                <a:latin typeface="Times New Roman Bold"/>
                <a:ea typeface="Times New Roman Bold"/>
                <a:cs typeface="Times New Roman Bold"/>
                <a:sym typeface="Times New Roman Bold"/>
              </a:rPr>
              <a:t>It is the software that is necessary for the computer, and it is used to manage and control the hardware components of the computer system. It consists of three types:</a:t>
            </a:r>
          </a:p>
          <a:p>
            <a:pPr marL="669289" lvl="1" indent="-334645" algn="just">
              <a:lnSpc>
                <a:spcPts val="4339"/>
              </a:lnSpc>
              <a:buFont typeface="Arial"/>
              <a:buChar char="•"/>
            </a:pPr>
            <a:r>
              <a:rPr lang="en-US" sz="3600" dirty="0">
                <a:solidFill>
                  <a:srgbClr val="000000"/>
                </a:solidFill>
                <a:latin typeface="Times New Roman Bold"/>
                <a:ea typeface="Times New Roman Bold"/>
                <a:cs typeface="Times New Roman Bold"/>
                <a:sym typeface="Times New Roman Bold"/>
              </a:rPr>
              <a:t>Operating System</a:t>
            </a:r>
          </a:p>
          <a:p>
            <a:pPr marL="669289" lvl="1" indent="-334645" algn="just">
              <a:lnSpc>
                <a:spcPts val="4339"/>
              </a:lnSpc>
              <a:buFont typeface="Arial"/>
              <a:buChar char="•"/>
            </a:pPr>
            <a:r>
              <a:rPr lang="en-US" sz="3600" dirty="0">
                <a:solidFill>
                  <a:srgbClr val="000000"/>
                </a:solidFill>
                <a:latin typeface="Times New Roman Bold"/>
                <a:ea typeface="Times New Roman Bold"/>
                <a:cs typeface="Times New Roman Bold"/>
                <a:sym typeface="Times New Roman Bold"/>
              </a:rPr>
              <a:t>Language Translator</a:t>
            </a:r>
          </a:p>
          <a:p>
            <a:pPr marL="669289" lvl="1" indent="-334645" algn="just">
              <a:lnSpc>
                <a:spcPts val="4339"/>
              </a:lnSpc>
              <a:buFont typeface="Arial"/>
              <a:buChar char="•"/>
            </a:pPr>
            <a:r>
              <a:rPr lang="en-US" sz="3600" dirty="0">
                <a:solidFill>
                  <a:srgbClr val="000000"/>
                </a:solidFill>
                <a:latin typeface="Times New Roman Bold"/>
                <a:ea typeface="Times New Roman Bold"/>
                <a:cs typeface="Times New Roman Bold"/>
                <a:sym typeface="Times New Roman Bold"/>
              </a:rPr>
              <a:t>Utility software</a:t>
            </a:r>
          </a:p>
          <a:p>
            <a:pPr marL="334644" lvl="1" algn="just">
              <a:lnSpc>
                <a:spcPts val="4339"/>
              </a:lnSpc>
            </a:pPr>
            <a:r>
              <a:rPr lang="en-US" sz="3600" b="1" dirty="0" smtClean="0">
                <a:solidFill>
                  <a:srgbClr val="FF0000"/>
                </a:solidFill>
                <a:latin typeface="Times New Roman Bold"/>
                <a:ea typeface="Times New Roman Bold"/>
                <a:cs typeface="Times New Roman Bold"/>
                <a:sym typeface="Times New Roman Bold"/>
              </a:rPr>
              <a:t>2.Application software: </a:t>
            </a:r>
            <a:r>
              <a:rPr lang="en-US" sz="3600" dirty="0" smtClean="0">
                <a:solidFill>
                  <a:srgbClr val="000000"/>
                </a:solidFill>
                <a:latin typeface="Times New Roman Bold"/>
                <a:ea typeface="Times New Roman Bold"/>
                <a:cs typeface="Times New Roman Bold"/>
                <a:sym typeface="Times New Roman Bold"/>
              </a:rPr>
              <a:t>It is a software designed to solve specific users problem. It is also known as end-user program. They are non-essential software which are installed and run depending upon the requirement. </a:t>
            </a:r>
            <a:endParaRPr lang="en-US" sz="3600" dirty="0">
              <a:solidFill>
                <a:srgbClr val="000000"/>
              </a:solidFill>
              <a:latin typeface="Times New Roman Bold"/>
              <a:ea typeface="Times New Roman Bold"/>
              <a:cs typeface="Times New Roman Bold"/>
              <a:sym typeface="Times New Roman Bold"/>
            </a:endParaRPr>
          </a:p>
          <a:p>
            <a:pPr marL="669289" lvl="1" indent="-334645" algn="just">
              <a:lnSpc>
                <a:spcPts val="4339"/>
              </a:lnSpc>
              <a:buFont typeface="Arial"/>
              <a:buChar char="•"/>
            </a:pPr>
            <a:r>
              <a:rPr lang="en-US" sz="3600" b="1" dirty="0">
                <a:solidFill>
                  <a:srgbClr val="000000"/>
                </a:solidFill>
                <a:latin typeface="Times New Roman Bold"/>
                <a:ea typeface="Times New Roman Bold"/>
                <a:cs typeface="Times New Roman Bold"/>
                <a:sym typeface="Times New Roman Bold"/>
              </a:rPr>
              <a:t>Package software</a:t>
            </a:r>
          </a:p>
          <a:p>
            <a:pPr marL="669289" lvl="1" indent="-334645" algn="just">
              <a:lnSpc>
                <a:spcPts val="4339"/>
              </a:lnSpc>
              <a:buFont typeface="Arial"/>
              <a:buChar char="•"/>
            </a:pPr>
            <a:r>
              <a:rPr lang="en-US" sz="3600" b="1" dirty="0" smtClean="0">
                <a:solidFill>
                  <a:srgbClr val="000000"/>
                </a:solidFill>
                <a:latin typeface="Times New Roman Bold"/>
                <a:ea typeface="Times New Roman Bold"/>
                <a:cs typeface="Times New Roman Bold"/>
                <a:sym typeface="Times New Roman Bold"/>
              </a:rPr>
              <a:t>Tailored / Customized software</a:t>
            </a:r>
            <a:endParaRPr lang="en-US" sz="3600" b="1" dirty="0">
              <a:solidFill>
                <a:srgbClr val="000000"/>
              </a:solidFill>
              <a:latin typeface="Times New Roman Bold"/>
              <a:ea typeface="Times New Roman Bold"/>
              <a:cs typeface="Times New Roman Bold"/>
              <a:sym typeface="Times New Roman Bold"/>
            </a:endParaRPr>
          </a:p>
        </p:txBody>
      </p:sp>
    </p:spTree>
  </p:cSld>
  <p:clrMapOvr>
    <a:masterClrMapping/>
  </p:clrMapOvr>
  <p:transition>
    <p:cover dir="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4" name="TextBox 4"/>
          <p:cNvSpPr txBox="1"/>
          <p:nvPr/>
        </p:nvSpPr>
        <p:spPr>
          <a:xfrm>
            <a:off x="1992549" y="-190500"/>
            <a:ext cx="14303090" cy="1552961"/>
          </a:xfrm>
          <a:prstGeom prst="rect">
            <a:avLst/>
          </a:prstGeom>
        </p:spPr>
        <p:txBody>
          <a:bodyPr lIns="0" tIns="0" rIns="0" bIns="0" rtlCol="0" anchor="t">
            <a:spAutoFit/>
          </a:bodyPr>
          <a:lstStyle/>
          <a:p>
            <a:pPr algn="ctr">
              <a:lnSpc>
                <a:spcPts val="11818"/>
              </a:lnSpc>
            </a:pPr>
            <a:r>
              <a:rPr lang="en-US" sz="10101" dirty="0" smtClean="0">
                <a:solidFill>
                  <a:srgbClr val="000000"/>
                </a:solidFill>
                <a:latin typeface="Times New Roman"/>
                <a:ea typeface="Times New Roman"/>
                <a:cs typeface="Times New Roman"/>
                <a:sym typeface="Times New Roman"/>
              </a:rPr>
              <a:t>System Software</a:t>
            </a:r>
            <a:endParaRPr lang="en-US" sz="10101" dirty="0">
              <a:solidFill>
                <a:srgbClr val="000000"/>
              </a:solidFill>
              <a:latin typeface="Times New Roman"/>
              <a:ea typeface="Times New Roman"/>
              <a:cs typeface="Times New Roman"/>
              <a:sym typeface="Times New Roman"/>
            </a:endParaRPr>
          </a:p>
        </p:txBody>
      </p:sp>
      <p:sp>
        <p:nvSpPr>
          <p:cNvPr id="5" name="TextBox 5"/>
          <p:cNvSpPr txBox="1"/>
          <p:nvPr/>
        </p:nvSpPr>
        <p:spPr>
          <a:xfrm>
            <a:off x="423721" y="1104900"/>
            <a:ext cx="17443675" cy="8822928"/>
          </a:xfrm>
          <a:prstGeom prst="rect">
            <a:avLst/>
          </a:prstGeom>
        </p:spPr>
        <p:txBody>
          <a:bodyPr lIns="0" tIns="0" rIns="0" bIns="0" rtlCol="0" anchor="t">
            <a:spAutoFit/>
          </a:bodyPr>
          <a:lstStyle/>
          <a:p>
            <a:pPr marL="334644" lvl="1" algn="just">
              <a:lnSpc>
                <a:spcPts val="4339"/>
              </a:lnSpc>
            </a:pPr>
            <a:r>
              <a:rPr lang="en-US" sz="3099" b="1" dirty="0" smtClean="0">
                <a:solidFill>
                  <a:srgbClr val="000000"/>
                </a:solidFill>
                <a:latin typeface="Times New Roman" pitchFamily="18" charset="0"/>
                <a:ea typeface="Times New Roman Bold"/>
                <a:cs typeface="Times New Roman" pitchFamily="18" charset="0"/>
                <a:sym typeface="Times New Roman Bold"/>
              </a:rPr>
              <a:t>It </a:t>
            </a:r>
            <a:r>
              <a:rPr lang="en-US" sz="3099" b="1" dirty="0">
                <a:solidFill>
                  <a:srgbClr val="000000"/>
                </a:solidFill>
                <a:latin typeface="Times New Roman" pitchFamily="18" charset="0"/>
                <a:ea typeface="Times New Roman Bold"/>
                <a:cs typeface="Times New Roman" pitchFamily="18" charset="0"/>
                <a:sym typeface="Times New Roman Bold"/>
              </a:rPr>
              <a:t>is the software that is necessary for the computer, and it is used to manage and control the hardware components of the computer system. It consists of three types</a:t>
            </a:r>
            <a:r>
              <a:rPr lang="en-US" sz="3099" b="1" dirty="0" smtClean="0">
                <a:solidFill>
                  <a:srgbClr val="000000"/>
                </a:solidFill>
                <a:latin typeface="Times New Roman" pitchFamily="18" charset="0"/>
                <a:ea typeface="Times New Roman Bold"/>
                <a:cs typeface="Times New Roman" pitchFamily="18" charset="0"/>
                <a:sym typeface="Times New Roman Bold"/>
              </a:rPr>
              <a:t>:</a:t>
            </a:r>
          </a:p>
          <a:p>
            <a:pPr marL="334644" lvl="1" algn="just">
              <a:lnSpc>
                <a:spcPts val="4339"/>
              </a:lnSpc>
            </a:pPr>
            <a:endParaRPr lang="en-US" sz="3099" b="1" dirty="0">
              <a:solidFill>
                <a:srgbClr val="000000"/>
              </a:solidFill>
              <a:latin typeface="Times New Roman" pitchFamily="18" charset="0"/>
              <a:ea typeface="Times New Roman Bold"/>
              <a:cs typeface="Times New Roman" pitchFamily="18" charset="0"/>
              <a:sym typeface="Times New Roman Bold"/>
            </a:endParaRPr>
          </a:p>
          <a:p>
            <a:pPr marL="669289" lvl="1" indent="-334645" algn="just">
              <a:lnSpc>
                <a:spcPts val="4339"/>
              </a:lnSpc>
              <a:buFont typeface="Arial"/>
              <a:buChar char="•"/>
            </a:pPr>
            <a:r>
              <a:rPr lang="en-US" sz="3099" b="1" dirty="0">
                <a:solidFill>
                  <a:srgbClr val="000000"/>
                </a:solidFill>
                <a:latin typeface="Times New Roman" pitchFamily="18" charset="0"/>
                <a:ea typeface="Times New Roman Bold"/>
                <a:cs typeface="Times New Roman" pitchFamily="18" charset="0"/>
                <a:sym typeface="Times New Roman Bold"/>
              </a:rPr>
              <a:t>Operating </a:t>
            </a:r>
            <a:r>
              <a:rPr lang="en-US" sz="3099" b="1" dirty="0" smtClean="0">
                <a:solidFill>
                  <a:srgbClr val="000000"/>
                </a:solidFill>
                <a:latin typeface="Times New Roman" pitchFamily="18" charset="0"/>
                <a:ea typeface="Times New Roman Bold"/>
                <a:cs typeface="Times New Roman" pitchFamily="18" charset="0"/>
                <a:sym typeface="Times New Roman Bold"/>
              </a:rPr>
              <a:t>System: It is a software that is responsible for controlling and coordinating computer hardware and providing easy interface to the application programmer and user. </a:t>
            </a:r>
          </a:p>
          <a:p>
            <a:pPr marL="334644" lvl="1" algn="just">
              <a:lnSpc>
                <a:spcPts val="4339"/>
              </a:lnSpc>
            </a:pPr>
            <a:r>
              <a:rPr lang="en-US" sz="3099" b="1" dirty="0" smtClean="0">
                <a:solidFill>
                  <a:srgbClr val="000000"/>
                </a:solidFill>
                <a:latin typeface="Times New Roman" pitchFamily="18" charset="0"/>
                <a:ea typeface="Times New Roman Bold"/>
                <a:cs typeface="Times New Roman" pitchFamily="18" charset="0"/>
                <a:sym typeface="Times New Roman Bold"/>
              </a:rPr>
              <a:t>-It acts as an interface between the user and hardware for smooth communication and operation.</a:t>
            </a:r>
          </a:p>
          <a:p>
            <a:pPr marL="334644" lvl="1" algn="just">
              <a:lnSpc>
                <a:spcPts val="4339"/>
              </a:lnSpc>
            </a:pPr>
            <a:endParaRPr lang="en-US" sz="3099" b="1" dirty="0">
              <a:solidFill>
                <a:srgbClr val="000000"/>
              </a:solidFill>
              <a:latin typeface="Times New Roman" pitchFamily="18" charset="0"/>
              <a:ea typeface="Times New Roman Bold"/>
              <a:cs typeface="Times New Roman" pitchFamily="18" charset="0"/>
              <a:sym typeface="Times New Roman Bold"/>
            </a:endParaRPr>
          </a:p>
          <a:p>
            <a:pPr marL="669289" lvl="1" indent="-334645" algn="just">
              <a:lnSpc>
                <a:spcPts val="4339"/>
              </a:lnSpc>
              <a:buFont typeface="Arial"/>
              <a:buChar char="•"/>
            </a:pPr>
            <a:r>
              <a:rPr lang="en-US" sz="3099" b="1" dirty="0">
                <a:solidFill>
                  <a:srgbClr val="000000"/>
                </a:solidFill>
                <a:latin typeface="Times New Roman" pitchFamily="18" charset="0"/>
                <a:ea typeface="Times New Roman Bold"/>
                <a:cs typeface="Times New Roman" pitchFamily="18" charset="0"/>
                <a:sym typeface="Times New Roman Bold"/>
              </a:rPr>
              <a:t>Language </a:t>
            </a:r>
            <a:r>
              <a:rPr lang="en-US" sz="3099" b="1" dirty="0" smtClean="0">
                <a:solidFill>
                  <a:srgbClr val="000000"/>
                </a:solidFill>
                <a:latin typeface="Times New Roman" pitchFamily="18" charset="0"/>
                <a:ea typeface="Times New Roman Bold"/>
                <a:cs typeface="Times New Roman" pitchFamily="18" charset="0"/>
                <a:sym typeface="Times New Roman Bold"/>
              </a:rPr>
              <a:t>Translator: It is a software that converts high level programming language into low level that the computer can understand. Types of language translator:</a:t>
            </a:r>
          </a:p>
          <a:p>
            <a:pPr marL="334644" lvl="1" algn="just">
              <a:lnSpc>
                <a:spcPts val="4339"/>
              </a:lnSpc>
            </a:pPr>
            <a:r>
              <a:rPr lang="en-US" sz="3099" b="1" dirty="0" smtClean="0">
                <a:solidFill>
                  <a:srgbClr val="000000"/>
                </a:solidFill>
                <a:latin typeface="Times New Roman" pitchFamily="18" charset="0"/>
                <a:ea typeface="Times New Roman Bold"/>
                <a:cs typeface="Times New Roman" pitchFamily="18" charset="0"/>
                <a:sym typeface="Times New Roman Bold"/>
              </a:rPr>
              <a:t>-Assembler: Converts assembly language into machine language. It uses mnemonics for writing the instruction like </a:t>
            </a:r>
            <a:r>
              <a:rPr lang="en-US" sz="3099" b="1" dirty="0" err="1" smtClean="0">
                <a:solidFill>
                  <a:srgbClr val="000000"/>
                </a:solidFill>
                <a:latin typeface="Times New Roman" pitchFamily="18" charset="0"/>
                <a:ea typeface="Times New Roman Bold"/>
                <a:cs typeface="Times New Roman" pitchFamily="18" charset="0"/>
                <a:sym typeface="Times New Roman Bold"/>
              </a:rPr>
              <a:t>mov</a:t>
            </a:r>
            <a:r>
              <a:rPr lang="en-US" sz="3099" b="1" dirty="0" smtClean="0">
                <a:solidFill>
                  <a:srgbClr val="000000"/>
                </a:solidFill>
                <a:latin typeface="Times New Roman" pitchFamily="18" charset="0"/>
                <a:ea typeface="Times New Roman Bold"/>
                <a:cs typeface="Times New Roman" pitchFamily="18" charset="0"/>
                <a:sym typeface="Times New Roman Bold"/>
              </a:rPr>
              <a:t>, add, sub. </a:t>
            </a:r>
            <a:r>
              <a:rPr lang="en-US" sz="3099" b="1" dirty="0" err="1" smtClean="0">
                <a:solidFill>
                  <a:srgbClr val="000000"/>
                </a:solidFill>
                <a:latin typeface="Times New Roman" pitchFamily="18" charset="0"/>
                <a:ea typeface="Times New Roman Bold"/>
                <a:cs typeface="Times New Roman" pitchFamily="18" charset="0"/>
                <a:sym typeface="Times New Roman Bold"/>
              </a:rPr>
              <a:t>Eg</a:t>
            </a:r>
            <a:r>
              <a:rPr lang="en-US" sz="3099" b="1" dirty="0" smtClean="0">
                <a:solidFill>
                  <a:srgbClr val="000000"/>
                </a:solidFill>
                <a:latin typeface="Times New Roman" pitchFamily="18" charset="0"/>
                <a:ea typeface="Times New Roman Bold"/>
                <a:cs typeface="Times New Roman" pitchFamily="18" charset="0"/>
                <a:sym typeface="Times New Roman Bold"/>
              </a:rPr>
              <a:t>: NASM(</a:t>
            </a:r>
            <a:r>
              <a:rPr lang="en-US" sz="3099" b="1" dirty="0" err="1" smtClean="0">
                <a:solidFill>
                  <a:srgbClr val="000000"/>
                </a:solidFill>
                <a:latin typeface="Times New Roman" pitchFamily="18" charset="0"/>
                <a:ea typeface="Times New Roman Bold"/>
                <a:cs typeface="Times New Roman" pitchFamily="18" charset="0"/>
                <a:sym typeface="Times New Roman Bold"/>
              </a:rPr>
              <a:t>netwide</a:t>
            </a:r>
            <a:r>
              <a:rPr lang="en-US" sz="3099" b="1" dirty="0" smtClean="0">
                <a:solidFill>
                  <a:srgbClr val="000000"/>
                </a:solidFill>
                <a:latin typeface="Times New Roman" pitchFamily="18" charset="0"/>
                <a:ea typeface="Times New Roman Bold"/>
                <a:cs typeface="Times New Roman" pitchFamily="18" charset="0"/>
                <a:sym typeface="Times New Roman Bold"/>
              </a:rPr>
              <a:t> assembler), MASM (Microsoft Macro Assembler)</a:t>
            </a:r>
          </a:p>
          <a:p>
            <a:pPr marL="791844" lvl="1" indent="-457200" algn="just">
              <a:lnSpc>
                <a:spcPts val="4339"/>
              </a:lnSpc>
              <a:buFontTx/>
              <a:buChar char="-"/>
            </a:pPr>
            <a:r>
              <a:rPr lang="en-US" sz="3099" b="1" dirty="0" smtClean="0">
                <a:solidFill>
                  <a:srgbClr val="000000"/>
                </a:solidFill>
                <a:latin typeface="Times New Roman" pitchFamily="18" charset="0"/>
                <a:ea typeface="Times New Roman Bold"/>
                <a:cs typeface="Times New Roman" pitchFamily="18" charset="0"/>
                <a:sym typeface="Times New Roman Bold"/>
              </a:rPr>
              <a:t>Complier: Converts high level into machine language all at once. </a:t>
            </a:r>
            <a:r>
              <a:rPr lang="en-US" sz="3099" b="1" dirty="0" err="1" smtClean="0">
                <a:solidFill>
                  <a:srgbClr val="000000"/>
                </a:solidFill>
                <a:latin typeface="Times New Roman" pitchFamily="18" charset="0"/>
                <a:ea typeface="Times New Roman Bold"/>
                <a:cs typeface="Times New Roman" pitchFamily="18" charset="0"/>
                <a:sym typeface="Times New Roman Bold"/>
              </a:rPr>
              <a:t>Eg</a:t>
            </a:r>
            <a:r>
              <a:rPr lang="en-US" sz="3099" b="1" dirty="0" smtClean="0">
                <a:solidFill>
                  <a:srgbClr val="000000"/>
                </a:solidFill>
                <a:latin typeface="Times New Roman" pitchFamily="18" charset="0"/>
                <a:ea typeface="Times New Roman Bold"/>
                <a:cs typeface="Times New Roman" pitchFamily="18" charset="0"/>
                <a:sym typeface="Times New Roman Bold"/>
              </a:rPr>
              <a:t>: C, </a:t>
            </a:r>
            <a:r>
              <a:rPr lang="en-US" sz="3099" b="1" dirty="0" err="1" smtClean="0">
                <a:solidFill>
                  <a:srgbClr val="000000"/>
                </a:solidFill>
                <a:latin typeface="Times New Roman" pitchFamily="18" charset="0"/>
                <a:ea typeface="Times New Roman Bold"/>
                <a:cs typeface="Times New Roman" pitchFamily="18" charset="0"/>
                <a:sym typeface="Times New Roman Bold"/>
              </a:rPr>
              <a:t>Dev</a:t>
            </a:r>
            <a:r>
              <a:rPr lang="en-US" sz="3099" b="1" dirty="0" smtClean="0">
                <a:solidFill>
                  <a:srgbClr val="000000"/>
                </a:solidFill>
                <a:latin typeface="Times New Roman" pitchFamily="18" charset="0"/>
                <a:ea typeface="Times New Roman Bold"/>
                <a:cs typeface="Times New Roman" pitchFamily="18" charset="0"/>
                <a:sym typeface="Times New Roman Bold"/>
              </a:rPr>
              <a:t> C++ </a:t>
            </a:r>
          </a:p>
          <a:p>
            <a:pPr marL="791844" lvl="1" indent="-457200" algn="just">
              <a:lnSpc>
                <a:spcPts val="4339"/>
              </a:lnSpc>
              <a:buFontTx/>
              <a:buChar char="-"/>
            </a:pPr>
            <a:r>
              <a:rPr lang="en-US" sz="3099" b="1" dirty="0" smtClean="0">
                <a:solidFill>
                  <a:srgbClr val="000000"/>
                </a:solidFill>
                <a:latin typeface="Times New Roman" pitchFamily="18" charset="0"/>
                <a:ea typeface="Times New Roman Bold"/>
                <a:cs typeface="Times New Roman" pitchFamily="18" charset="0"/>
                <a:sym typeface="Times New Roman Bold"/>
              </a:rPr>
              <a:t>Interpreter: Converts high level into machine language line by line. </a:t>
            </a:r>
            <a:r>
              <a:rPr lang="en-US" sz="3099" b="1" dirty="0" err="1" smtClean="0">
                <a:solidFill>
                  <a:srgbClr val="000000"/>
                </a:solidFill>
                <a:latin typeface="Times New Roman" pitchFamily="18" charset="0"/>
                <a:ea typeface="Times New Roman Bold"/>
                <a:cs typeface="Times New Roman" pitchFamily="18" charset="0"/>
                <a:sym typeface="Times New Roman Bold"/>
              </a:rPr>
              <a:t>Eg</a:t>
            </a:r>
            <a:r>
              <a:rPr lang="en-US" sz="3099" b="1" dirty="0" smtClean="0">
                <a:solidFill>
                  <a:srgbClr val="000000"/>
                </a:solidFill>
                <a:latin typeface="Times New Roman" pitchFamily="18" charset="0"/>
                <a:ea typeface="Times New Roman Bold"/>
                <a:cs typeface="Times New Roman" pitchFamily="18" charset="0"/>
                <a:sym typeface="Times New Roman Bold"/>
              </a:rPr>
              <a:t>: Python, JavaScript</a:t>
            </a:r>
          </a:p>
          <a:p>
            <a:pPr marL="334644" lvl="1" algn="just">
              <a:lnSpc>
                <a:spcPts val="4339"/>
              </a:lnSpc>
            </a:pPr>
            <a:endParaRPr lang="en-US" sz="3099" b="1" dirty="0">
              <a:solidFill>
                <a:srgbClr val="000000"/>
              </a:solidFill>
              <a:latin typeface="Times New Roman" pitchFamily="18" charset="0"/>
              <a:ea typeface="Times New Roman Bold"/>
              <a:cs typeface="Times New Roman" pitchFamily="18" charset="0"/>
              <a:sym typeface="Times New Roman Bold"/>
            </a:endParaRPr>
          </a:p>
          <a:p>
            <a:pPr marL="669289" lvl="1" indent="-334645" algn="just">
              <a:lnSpc>
                <a:spcPts val="4339"/>
              </a:lnSpc>
              <a:buFont typeface="Arial"/>
              <a:buChar char="•"/>
            </a:pPr>
            <a:r>
              <a:rPr lang="en-US" sz="3099" b="1" dirty="0">
                <a:solidFill>
                  <a:srgbClr val="000000"/>
                </a:solidFill>
                <a:latin typeface="Times New Roman" pitchFamily="18" charset="0"/>
                <a:ea typeface="Times New Roman Bold"/>
                <a:cs typeface="Times New Roman" pitchFamily="18" charset="0"/>
                <a:sym typeface="Times New Roman Bold"/>
              </a:rPr>
              <a:t>Utility </a:t>
            </a:r>
            <a:r>
              <a:rPr lang="en-US" sz="3099" b="1" dirty="0" smtClean="0">
                <a:solidFill>
                  <a:srgbClr val="000000"/>
                </a:solidFill>
                <a:latin typeface="Times New Roman" pitchFamily="18" charset="0"/>
                <a:ea typeface="Times New Roman Bold"/>
                <a:cs typeface="Times New Roman" pitchFamily="18" charset="0"/>
                <a:sym typeface="Times New Roman Bold"/>
              </a:rPr>
              <a:t>software: It is a type of system software that helps to maintain, manage and protect a computer system. </a:t>
            </a:r>
            <a:endParaRPr lang="en-US" sz="3099" b="1" dirty="0">
              <a:solidFill>
                <a:srgbClr val="000000"/>
              </a:solidFill>
              <a:latin typeface="Times New Roman" pitchFamily="18" charset="0"/>
              <a:ea typeface="Times New Roman Bold"/>
              <a:cs typeface="Times New Roman" pitchFamily="18" charset="0"/>
              <a:sym typeface="Times New Roman Bold"/>
            </a:endParaRPr>
          </a:p>
        </p:txBody>
      </p:sp>
    </p:spTree>
    <p:extLst>
      <p:ext uri="{BB962C8B-B14F-4D97-AF65-F5344CB8AC3E}">
        <p14:creationId xmlns:p14="http://schemas.microsoft.com/office/powerpoint/2010/main" val="2735033184"/>
      </p:ext>
    </p:extLst>
  </p:cSld>
  <p:clrMapOvr>
    <a:masterClrMapping/>
  </p:clrMapOvr>
  <p:transition>
    <p:cover dir="rd"/>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5392400" y="7747729"/>
            <a:ext cx="3342912" cy="3547893"/>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92549" y="-66675"/>
            <a:ext cx="14303090" cy="1435613"/>
          </a:xfrm>
          <a:prstGeom prst="rect">
            <a:avLst/>
          </a:prstGeom>
        </p:spPr>
        <p:txBody>
          <a:bodyPr lIns="0" tIns="0" rIns="0" bIns="0" rtlCol="0" anchor="t">
            <a:spAutoFit/>
          </a:bodyPr>
          <a:lstStyle/>
          <a:p>
            <a:pPr algn="ctr">
              <a:lnSpc>
                <a:spcPts val="10882"/>
              </a:lnSpc>
            </a:pPr>
            <a:r>
              <a:rPr lang="en-US" sz="9301">
                <a:solidFill>
                  <a:srgbClr val="000000"/>
                </a:solidFill>
                <a:latin typeface="Times New Roman"/>
                <a:ea typeface="Times New Roman"/>
                <a:cs typeface="Times New Roman"/>
                <a:sym typeface="Times New Roman"/>
              </a:rPr>
              <a:t>Programming Language</a:t>
            </a:r>
          </a:p>
        </p:txBody>
      </p:sp>
      <p:sp>
        <p:nvSpPr>
          <p:cNvPr id="5" name="TextBox 5"/>
          <p:cNvSpPr txBox="1"/>
          <p:nvPr/>
        </p:nvSpPr>
        <p:spPr>
          <a:xfrm>
            <a:off x="422256" y="1130534"/>
            <a:ext cx="17443675" cy="6617196"/>
          </a:xfrm>
          <a:prstGeom prst="rect">
            <a:avLst/>
          </a:prstGeom>
        </p:spPr>
        <p:txBody>
          <a:bodyPr lIns="0" tIns="0" rIns="0" bIns="0" rtlCol="0" anchor="t">
            <a:spAutoFit/>
          </a:bodyPr>
          <a:lstStyle/>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A programming language is a set of instructions that is used for the programmer to develop the program or software and tell what task a computer will perform. It is the language of the computer because it is the only medium through human can communicate with computer system. there are two types of language:</a:t>
            </a:r>
          </a:p>
          <a:p>
            <a:pPr marL="669289" lvl="1" indent="-334645" algn="just">
              <a:lnSpc>
                <a:spcPts val="4339"/>
              </a:lnSpc>
              <a:buAutoNum type="arabicPeriod"/>
            </a:pPr>
            <a:r>
              <a:rPr lang="en-US" sz="3099" dirty="0">
                <a:solidFill>
                  <a:srgbClr val="000000"/>
                </a:solidFill>
                <a:latin typeface="Times New Roman"/>
                <a:ea typeface="Times New Roman"/>
                <a:cs typeface="Times New Roman"/>
                <a:sym typeface="Times New Roman"/>
              </a:rPr>
              <a:t>Low level language</a:t>
            </a:r>
          </a:p>
          <a:p>
            <a:pPr marL="669289" lvl="1" indent="-334645" algn="just">
              <a:lnSpc>
                <a:spcPts val="4339"/>
              </a:lnSpc>
              <a:buAutoNum type="arabicPeriod"/>
            </a:pPr>
            <a:r>
              <a:rPr lang="en-US" sz="3099" dirty="0">
                <a:solidFill>
                  <a:srgbClr val="000000"/>
                </a:solidFill>
                <a:latin typeface="Times New Roman"/>
                <a:ea typeface="Times New Roman"/>
                <a:cs typeface="Times New Roman"/>
                <a:sym typeface="Times New Roman"/>
              </a:rPr>
              <a:t>High level language</a:t>
            </a:r>
          </a:p>
          <a:p>
            <a:pPr algn="just">
              <a:lnSpc>
                <a:spcPts val="4339"/>
              </a:lnSpc>
            </a:pPr>
            <a:r>
              <a:rPr lang="en-US" sz="3099" dirty="0">
                <a:solidFill>
                  <a:srgbClr val="000000"/>
                </a:solidFill>
                <a:latin typeface="Times New Roman"/>
                <a:ea typeface="Times New Roman"/>
                <a:cs typeface="Times New Roman"/>
                <a:sym typeface="Times New Roman"/>
              </a:rPr>
              <a:t>Purpose of programming language</a:t>
            </a: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Solving </a:t>
            </a:r>
            <a:r>
              <a:rPr lang="en-US" sz="3099" dirty="0" smtClean="0">
                <a:solidFill>
                  <a:srgbClr val="000000"/>
                </a:solidFill>
                <a:latin typeface="Times New Roman"/>
                <a:ea typeface="Times New Roman"/>
                <a:cs typeface="Times New Roman"/>
                <a:sym typeface="Times New Roman"/>
              </a:rPr>
              <a:t>problem: It allows us to write the program that solve real world problems.</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C</a:t>
            </a:r>
            <a:r>
              <a:rPr lang="en-US" sz="3099" dirty="0" smtClean="0">
                <a:solidFill>
                  <a:srgbClr val="000000"/>
                </a:solidFill>
                <a:latin typeface="Times New Roman"/>
                <a:ea typeface="Times New Roman"/>
                <a:cs typeface="Times New Roman"/>
                <a:sym typeface="Times New Roman"/>
              </a:rPr>
              <a:t>ontrol computers: It helps us to control how a computer works and behaves.</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D</a:t>
            </a:r>
            <a:r>
              <a:rPr lang="en-US" sz="3099" dirty="0" smtClean="0">
                <a:solidFill>
                  <a:srgbClr val="000000"/>
                </a:solidFill>
                <a:latin typeface="Times New Roman"/>
                <a:ea typeface="Times New Roman"/>
                <a:cs typeface="Times New Roman"/>
                <a:sym typeface="Times New Roman"/>
              </a:rPr>
              <a:t>eveloping software: It helps us to develop different types of software such as apps, gems, website etc. </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C</a:t>
            </a:r>
            <a:r>
              <a:rPr lang="en-US" sz="3099" dirty="0" smtClean="0">
                <a:solidFill>
                  <a:srgbClr val="000000"/>
                </a:solidFill>
                <a:latin typeface="Times New Roman"/>
                <a:ea typeface="Times New Roman"/>
                <a:cs typeface="Times New Roman"/>
                <a:sym typeface="Times New Roman"/>
              </a:rPr>
              <a:t>reating </a:t>
            </a:r>
            <a:r>
              <a:rPr lang="en-US" sz="3099" dirty="0">
                <a:solidFill>
                  <a:srgbClr val="000000"/>
                </a:solidFill>
                <a:latin typeface="Times New Roman"/>
                <a:ea typeface="Times New Roman"/>
                <a:cs typeface="Times New Roman"/>
                <a:sym typeface="Times New Roman"/>
              </a:rPr>
              <a:t>efficient </a:t>
            </a:r>
            <a:r>
              <a:rPr lang="en-US" sz="3099" dirty="0" smtClean="0">
                <a:solidFill>
                  <a:srgbClr val="000000"/>
                </a:solidFill>
                <a:latin typeface="Times New Roman"/>
                <a:ea typeface="Times New Roman"/>
                <a:cs typeface="Times New Roman"/>
                <a:sym typeface="Times New Roman"/>
              </a:rPr>
              <a:t>algorithms: It helps us to design efficient algorithms step-by-steps method to solve task quickly and correctly. </a:t>
            </a:r>
          </a:p>
          <a:p>
            <a:pPr marL="669289" lvl="1" indent="-334645" algn="just">
              <a:lnSpc>
                <a:spcPts val="4339"/>
              </a:lnSpc>
              <a:buFont typeface="Arial"/>
              <a:buChar char="•"/>
            </a:pPr>
            <a:r>
              <a:rPr lang="en-US" sz="3099" dirty="0" smtClean="0">
                <a:solidFill>
                  <a:srgbClr val="000000"/>
                </a:solidFill>
                <a:latin typeface="Times New Roman"/>
                <a:ea typeface="Times New Roman"/>
                <a:cs typeface="Times New Roman"/>
                <a:sym typeface="Times New Roman"/>
              </a:rPr>
              <a:t>Communicate: It helps us to tell the computer what to do in a understandable and structured way. </a:t>
            </a:r>
            <a:endParaRPr lang="en-US" sz="3099" dirty="0">
              <a:solidFill>
                <a:srgbClr val="000000"/>
              </a:solidFill>
              <a:latin typeface="Times New Roman"/>
              <a:ea typeface="Times New Roman"/>
              <a:cs typeface="Times New Roman"/>
              <a:sym typeface="Times New Roman"/>
            </a:endParaRPr>
          </a:p>
        </p:txBody>
      </p:sp>
    </p:spTree>
  </p:cSld>
  <p:clrMapOvr>
    <a:masterClrMapping/>
  </p:clrMapOvr>
  <p:transition>
    <p:cover dir="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Freeform 2"/>
          <p:cNvSpPr/>
          <p:nvPr/>
        </p:nvSpPr>
        <p:spPr>
          <a:xfrm rot="-1756469">
            <a:off x="10487656" y="9129907"/>
            <a:ext cx="11242826" cy="2684225"/>
          </a:xfrm>
          <a:custGeom>
            <a:avLst/>
            <a:gdLst/>
            <a:ahLst/>
            <a:cxnLst/>
            <a:rect l="l" t="t" r="r" b="b"/>
            <a:pathLst>
              <a:path w="11242826" h="2684225">
                <a:moveTo>
                  <a:pt x="0" y="0"/>
                </a:moveTo>
                <a:lnTo>
                  <a:pt x="11242826" y="0"/>
                </a:lnTo>
                <a:lnTo>
                  <a:pt x="11242826" y="2684225"/>
                </a:lnTo>
                <a:lnTo>
                  <a:pt x="0" y="2684225"/>
                </a:lnTo>
                <a:lnTo>
                  <a:pt x="0" y="0"/>
                </a:lnTo>
                <a:close/>
              </a:path>
            </a:pathLst>
          </a:custGeom>
          <a:blipFill>
            <a:blip r:embed="rId2"/>
            <a:stretch>
              <a:fillRect/>
            </a:stretch>
          </a:blipFill>
        </p:spPr>
      </p:sp>
      <p:sp>
        <p:nvSpPr>
          <p:cNvPr id="3" name="Freeform 3"/>
          <p:cNvSpPr/>
          <p:nvPr/>
        </p:nvSpPr>
        <p:spPr>
          <a:xfrm>
            <a:off x="14778318" y="6854099"/>
            <a:ext cx="3956994" cy="4441524"/>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92549" y="-66675"/>
            <a:ext cx="14303090" cy="1435613"/>
          </a:xfrm>
          <a:prstGeom prst="rect">
            <a:avLst/>
          </a:prstGeom>
        </p:spPr>
        <p:txBody>
          <a:bodyPr lIns="0" tIns="0" rIns="0" bIns="0" rtlCol="0" anchor="t">
            <a:spAutoFit/>
          </a:bodyPr>
          <a:lstStyle/>
          <a:p>
            <a:pPr algn="ctr">
              <a:lnSpc>
                <a:spcPts val="10882"/>
              </a:lnSpc>
            </a:pPr>
            <a:r>
              <a:rPr lang="en-US" sz="9301">
                <a:solidFill>
                  <a:srgbClr val="000000"/>
                </a:solidFill>
                <a:latin typeface="Times New Roman"/>
                <a:ea typeface="Times New Roman"/>
                <a:cs typeface="Times New Roman"/>
                <a:sym typeface="Times New Roman"/>
              </a:rPr>
              <a:t>Programming Language</a:t>
            </a:r>
          </a:p>
        </p:txBody>
      </p:sp>
      <p:sp>
        <p:nvSpPr>
          <p:cNvPr id="5" name="TextBox 5"/>
          <p:cNvSpPr txBox="1"/>
          <p:nvPr/>
        </p:nvSpPr>
        <p:spPr>
          <a:xfrm>
            <a:off x="422256" y="1130534"/>
            <a:ext cx="17443675" cy="5514330"/>
          </a:xfrm>
          <a:prstGeom prst="rect">
            <a:avLst/>
          </a:prstGeom>
        </p:spPr>
        <p:txBody>
          <a:bodyPr lIns="0" tIns="0" rIns="0" bIns="0" rtlCol="0" anchor="t">
            <a:spAutoFit/>
          </a:bodyPr>
          <a:lstStyle/>
          <a:p>
            <a:pPr algn="just">
              <a:lnSpc>
                <a:spcPts val="4339"/>
              </a:lnSpc>
            </a:pPr>
            <a:r>
              <a:rPr lang="en-US" sz="3099" dirty="0" smtClean="0">
                <a:solidFill>
                  <a:srgbClr val="000000"/>
                </a:solidFill>
                <a:latin typeface="Times New Roman"/>
                <a:ea typeface="Times New Roman"/>
                <a:cs typeface="Times New Roman"/>
                <a:sym typeface="Times New Roman"/>
              </a:rPr>
              <a:t>Advantage </a:t>
            </a:r>
            <a:r>
              <a:rPr lang="en-US" sz="3099" dirty="0">
                <a:solidFill>
                  <a:srgbClr val="000000"/>
                </a:solidFill>
                <a:latin typeface="Times New Roman"/>
                <a:ea typeface="Times New Roman"/>
                <a:cs typeface="Times New Roman"/>
                <a:sym typeface="Times New Roman"/>
              </a:rPr>
              <a:t>of programming language</a:t>
            </a:r>
          </a:p>
          <a:p>
            <a:pPr marL="669289" lvl="1" indent="-334645" algn="just">
              <a:lnSpc>
                <a:spcPts val="4339"/>
              </a:lnSpc>
              <a:buFont typeface="Arial"/>
              <a:buChar char="•"/>
            </a:pPr>
            <a:r>
              <a:rPr lang="en-US" sz="3099" dirty="0" smtClean="0">
                <a:solidFill>
                  <a:srgbClr val="000000"/>
                </a:solidFill>
                <a:latin typeface="Times New Roman"/>
                <a:ea typeface="Times New Roman"/>
                <a:cs typeface="Times New Roman"/>
                <a:sym typeface="Times New Roman"/>
              </a:rPr>
              <a:t>Abstraction: It means hiding complex details and showing only the essential features of something. It helps programmers focus on what an object does rather than how it works internally. </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dirty="0" smtClean="0">
                <a:solidFill>
                  <a:srgbClr val="000000"/>
                </a:solidFill>
                <a:latin typeface="Times New Roman"/>
                <a:ea typeface="Times New Roman"/>
                <a:cs typeface="Times New Roman"/>
                <a:sym typeface="Times New Roman"/>
              </a:rPr>
              <a:t>Reusability: It allows the code to used multiple times in different programs or modules. It reduces duplication and saves time during software development. </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dirty="0" smtClean="0">
                <a:solidFill>
                  <a:srgbClr val="000000"/>
                </a:solidFill>
                <a:latin typeface="Times New Roman"/>
                <a:ea typeface="Times New Roman"/>
                <a:cs typeface="Times New Roman"/>
                <a:sym typeface="Times New Roman"/>
              </a:rPr>
              <a:t>Portability: It means software can run on different systems or platforms with little or no modification. For example: Java’s “Write once, Run anywhere’. </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Libraries and </a:t>
            </a:r>
            <a:r>
              <a:rPr lang="en-US" sz="3099" dirty="0" smtClean="0">
                <a:solidFill>
                  <a:srgbClr val="000000"/>
                </a:solidFill>
                <a:latin typeface="Times New Roman"/>
                <a:ea typeface="Times New Roman"/>
                <a:cs typeface="Times New Roman"/>
                <a:sym typeface="Times New Roman"/>
              </a:rPr>
              <a:t>Framework: These are the pre-written code that helps developers build applications faster.</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Error </a:t>
            </a:r>
            <a:r>
              <a:rPr lang="en-US" sz="3099" dirty="0" smtClean="0">
                <a:solidFill>
                  <a:srgbClr val="000000"/>
                </a:solidFill>
                <a:latin typeface="Times New Roman"/>
                <a:ea typeface="Times New Roman"/>
                <a:cs typeface="Times New Roman"/>
                <a:sym typeface="Times New Roman"/>
              </a:rPr>
              <a:t>handling: It deals with identifying and managing errors during program execution.</a:t>
            </a:r>
            <a:endParaRPr lang="en-US" sz="3099" dirty="0">
              <a:solidFill>
                <a:srgbClr val="000000"/>
              </a:solidFill>
              <a:latin typeface="Times New Roman"/>
              <a:ea typeface="Times New Roman"/>
              <a:cs typeface="Times New Roman"/>
              <a:sym typeface="Times New Roman"/>
            </a:endParaRPr>
          </a:p>
          <a:p>
            <a:pPr marL="669289" lvl="1" indent="-334645" algn="just">
              <a:lnSpc>
                <a:spcPts val="4339"/>
              </a:lnSpc>
              <a:buFont typeface="Arial"/>
              <a:buChar char="•"/>
            </a:pPr>
            <a:r>
              <a:rPr lang="en-US" sz="3099" dirty="0">
                <a:solidFill>
                  <a:srgbClr val="000000"/>
                </a:solidFill>
                <a:latin typeface="Times New Roman"/>
                <a:ea typeface="Times New Roman"/>
                <a:cs typeface="Times New Roman"/>
                <a:sym typeface="Times New Roman"/>
              </a:rPr>
              <a:t>OOP(Object -Oriented </a:t>
            </a:r>
            <a:r>
              <a:rPr lang="en-US" sz="3099" dirty="0" smtClean="0">
                <a:solidFill>
                  <a:srgbClr val="000000"/>
                </a:solidFill>
                <a:latin typeface="Times New Roman"/>
                <a:ea typeface="Times New Roman"/>
                <a:cs typeface="Times New Roman"/>
                <a:sym typeface="Times New Roman"/>
              </a:rPr>
              <a:t>Programming): </a:t>
            </a:r>
            <a:endParaRPr lang="en-US" sz="3099"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340048443"/>
      </p:ext>
    </p:extLst>
  </p:cSld>
  <p:clrMapOvr>
    <a:masterClrMapping/>
  </p:clrMapOvr>
  <p:transition>
    <p:cover dir="rd"/>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3" name="Freeform 3"/>
          <p:cNvSpPr/>
          <p:nvPr/>
        </p:nvSpPr>
        <p:spPr>
          <a:xfrm>
            <a:off x="16524238" y="9182100"/>
            <a:ext cx="1763762" cy="1295400"/>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92549" y="249388"/>
            <a:ext cx="14303090" cy="1552961"/>
          </a:xfrm>
          <a:prstGeom prst="rect">
            <a:avLst/>
          </a:prstGeom>
        </p:spPr>
        <p:txBody>
          <a:bodyPr lIns="0" tIns="0" rIns="0" bIns="0" rtlCol="0" anchor="t">
            <a:spAutoFit/>
          </a:bodyPr>
          <a:lstStyle/>
          <a:p>
            <a:pPr algn="ctr">
              <a:lnSpc>
                <a:spcPts val="11818"/>
              </a:lnSpc>
            </a:pPr>
            <a:r>
              <a:rPr lang="en-US" sz="10101">
                <a:solidFill>
                  <a:srgbClr val="000000"/>
                </a:solidFill>
                <a:latin typeface="Times New Roman"/>
                <a:ea typeface="Times New Roman"/>
                <a:cs typeface="Times New Roman"/>
                <a:sym typeface="Times New Roman"/>
              </a:rPr>
              <a:t>Computer Network</a:t>
            </a:r>
          </a:p>
        </p:txBody>
      </p:sp>
      <p:sp>
        <p:nvSpPr>
          <p:cNvPr id="5" name="TextBox 5"/>
          <p:cNvSpPr txBox="1"/>
          <p:nvPr/>
        </p:nvSpPr>
        <p:spPr>
          <a:xfrm>
            <a:off x="423721" y="1836625"/>
            <a:ext cx="17443675" cy="7720062"/>
          </a:xfrm>
          <a:prstGeom prst="rect">
            <a:avLst/>
          </a:prstGeom>
        </p:spPr>
        <p:txBody>
          <a:bodyPr lIns="0" tIns="0" rIns="0" bIns="0" rtlCol="0" anchor="t">
            <a:spAutoFit/>
          </a:bodyPr>
          <a:lstStyle/>
          <a:p>
            <a:pPr algn="just">
              <a:lnSpc>
                <a:spcPts val="4339"/>
              </a:lnSpc>
            </a:pPr>
            <a:r>
              <a:rPr lang="en-US" sz="3099" b="1" dirty="0">
                <a:solidFill>
                  <a:srgbClr val="000000"/>
                </a:solidFill>
                <a:latin typeface="Times New Roman Bold"/>
                <a:ea typeface="Times New Roman Bold"/>
                <a:cs typeface="Times New Roman Bold"/>
                <a:sym typeface="Times New Roman Bold"/>
              </a:rPr>
              <a:t>Computer network is a collection of interconnected devices such as computer, servers and network devices that communicate with each other to share resources, information and services. </a:t>
            </a:r>
          </a:p>
          <a:p>
            <a:pPr algn="just">
              <a:lnSpc>
                <a:spcPts val="4339"/>
              </a:lnSpc>
            </a:pPr>
            <a:r>
              <a:rPr lang="en-US" sz="3099" b="1" dirty="0">
                <a:solidFill>
                  <a:srgbClr val="000000"/>
                </a:solidFill>
                <a:latin typeface="Times New Roman Bold"/>
                <a:ea typeface="Times New Roman Bold"/>
                <a:cs typeface="Times New Roman Bold"/>
                <a:sym typeface="Times New Roman Bold"/>
              </a:rPr>
              <a:t>Purpose:</a:t>
            </a:r>
          </a:p>
          <a:p>
            <a:pPr marL="669289" lvl="1" indent="-334645" algn="just">
              <a:lnSpc>
                <a:spcPts val="4339"/>
              </a:lnSpc>
              <a:buAutoNum type="arabicPeriod"/>
            </a:pPr>
            <a:r>
              <a:rPr lang="en-US" sz="3099" b="1" dirty="0">
                <a:solidFill>
                  <a:srgbClr val="000000"/>
                </a:solidFill>
                <a:latin typeface="Times New Roman Bold"/>
                <a:ea typeface="Times New Roman Bold"/>
                <a:cs typeface="Times New Roman Bold"/>
                <a:sym typeface="Times New Roman Bold"/>
              </a:rPr>
              <a:t>Improved communication</a:t>
            </a:r>
            <a:r>
              <a:rPr lang="en-US" sz="3099" b="1" dirty="0" smtClean="0">
                <a:solidFill>
                  <a:srgbClr val="000000"/>
                </a:solidFill>
                <a:latin typeface="Times New Roman Bold"/>
                <a:ea typeface="Times New Roman Bold"/>
                <a:cs typeface="Times New Roman Bold"/>
                <a:sym typeface="Times New Roman Bold"/>
              </a:rPr>
              <a:t>: It helps people to communicate through emails, messages, video calls and social media.</a:t>
            </a:r>
          </a:p>
          <a:p>
            <a:pPr marL="669289" lvl="1" indent="-334645"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Resources Sharing : Users can share hardware devices, software, and data across the network.</a:t>
            </a:r>
          </a:p>
          <a:p>
            <a:pPr marL="669289" lvl="1" indent="-334645"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Collaboration: </a:t>
            </a:r>
          </a:p>
          <a:p>
            <a:pPr marL="669289" lvl="1" indent="-334645"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Cost Saving: It reduces the cost of buying separate devices for each user. </a:t>
            </a:r>
          </a:p>
          <a:p>
            <a:pPr marL="669289" lvl="1" indent="-334645"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Remote Access: Users can access network resources from anywhere if the network supports remote connectivity</a:t>
            </a:r>
          </a:p>
          <a:p>
            <a:pPr marL="669289" lvl="1" indent="-334645"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Improved Efficiency: It helps organization work faster by allowing quick access to shared data and applications.</a:t>
            </a:r>
          </a:p>
          <a:p>
            <a:pPr marL="669289" lvl="1" indent="-334645" algn="just">
              <a:lnSpc>
                <a:spcPts val="4339"/>
              </a:lnSpc>
              <a:buAutoNum type="arabicPeriod"/>
            </a:pPr>
            <a:endParaRPr lang="en-US" sz="3099" b="1" dirty="0">
              <a:solidFill>
                <a:srgbClr val="000000"/>
              </a:solidFill>
              <a:latin typeface="Times New Roman Bold"/>
              <a:ea typeface="Times New Roman Bold"/>
              <a:cs typeface="Times New Roman Bold"/>
              <a:sym typeface="Times New Roman Bold"/>
            </a:endParaRPr>
          </a:p>
          <a:p>
            <a:pPr algn="just">
              <a:lnSpc>
                <a:spcPts val="4339"/>
              </a:lnSpc>
            </a:pPr>
            <a:endParaRPr lang="en-US" sz="3099" b="1" dirty="0">
              <a:solidFill>
                <a:srgbClr val="000000"/>
              </a:solidFill>
              <a:latin typeface="Times New Roman Bold"/>
              <a:ea typeface="Times New Roman Bold"/>
              <a:cs typeface="Times New Roman Bold"/>
              <a:sym typeface="Times New Roman Bold"/>
            </a:endParaRPr>
          </a:p>
        </p:txBody>
      </p:sp>
    </p:spTree>
  </p:cSld>
  <p:clrMapOvr>
    <a:masterClrMapping/>
  </p:clrMapOvr>
  <p:transition>
    <p:cover dir="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3" name="Freeform 3"/>
          <p:cNvSpPr/>
          <p:nvPr/>
        </p:nvSpPr>
        <p:spPr>
          <a:xfrm>
            <a:off x="16524238" y="9182100"/>
            <a:ext cx="1763762" cy="1295400"/>
          </a:xfrm>
          <a:custGeom>
            <a:avLst/>
            <a:gdLst/>
            <a:ahLst/>
            <a:cxnLst/>
            <a:rect l="l" t="t" r="r" b="b"/>
            <a:pathLst>
              <a:path w="3956994" h="4441524">
                <a:moveTo>
                  <a:pt x="0" y="0"/>
                </a:moveTo>
                <a:lnTo>
                  <a:pt x="3956993" y="0"/>
                </a:lnTo>
                <a:lnTo>
                  <a:pt x="3956993" y="4441524"/>
                </a:lnTo>
                <a:lnTo>
                  <a:pt x="0" y="4441524"/>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sp>
        <p:nvSpPr>
          <p:cNvPr id="4" name="TextBox 4"/>
          <p:cNvSpPr txBox="1"/>
          <p:nvPr/>
        </p:nvSpPr>
        <p:spPr>
          <a:xfrm>
            <a:off x="1992549" y="249388"/>
            <a:ext cx="14303090" cy="1552961"/>
          </a:xfrm>
          <a:prstGeom prst="rect">
            <a:avLst/>
          </a:prstGeom>
        </p:spPr>
        <p:txBody>
          <a:bodyPr lIns="0" tIns="0" rIns="0" bIns="0" rtlCol="0" anchor="t">
            <a:spAutoFit/>
          </a:bodyPr>
          <a:lstStyle/>
          <a:p>
            <a:pPr algn="ctr">
              <a:lnSpc>
                <a:spcPts val="11818"/>
              </a:lnSpc>
            </a:pPr>
            <a:r>
              <a:rPr lang="en-US" sz="10101" dirty="0" smtClean="0">
                <a:solidFill>
                  <a:srgbClr val="000000"/>
                </a:solidFill>
                <a:latin typeface="Times New Roman"/>
                <a:ea typeface="Times New Roman"/>
                <a:cs typeface="Times New Roman"/>
                <a:sym typeface="Times New Roman"/>
              </a:rPr>
              <a:t>Assignment 1</a:t>
            </a:r>
            <a:endParaRPr lang="en-US" sz="10101" dirty="0">
              <a:solidFill>
                <a:srgbClr val="000000"/>
              </a:solidFill>
              <a:latin typeface="Times New Roman"/>
              <a:ea typeface="Times New Roman"/>
              <a:cs typeface="Times New Roman"/>
              <a:sym typeface="Times New Roman"/>
            </a:endParaRPr>
          </a:p>
        </p:txBody>
      </p:sp>
      <p:sp>
        <p:nvSpPr>
          <p:cNvPr id="5" name="TextBox 5"/>
          <p:cNvSpPr txBox="1"/>
          <p:nvPr/>
        </p:nvSpPr>
        <p:spPr>
          <a:xfrm>
            <a:off x="423721" y="1836625"/>
            <a:ext cx="17443675" cy="4962897"/>
          </a:xfrm>
          <a:prstGeom prst="rect">
            <a:avLst/>
          </a:prstGeom>
        </p:spPr>
        <p:txBody>
          <a:bodyPr lIns="0" tIns="0" rIns="0" bIns="0" rtlCol="0" anchor="t">
            <a:spAutoFit/>
          </a:bodyPr>
          <a:lstStyle/>
          <a:p>
            <a:pPr marL="514350" indent="-514350"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Define a computer? Explain its characteristic.</a:t>
            </a:r>
          </a:p>
          <a:p>
            <a:pPr marL="514350" indent="-514350"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What is software? List and explain its types</a:t>
            </a:r>
          </a:p>
          <a:p>
            <a:pPr marL="514350" indent="-514350" algn="just">
              <a:lnSpc>
                <a:spcPts val="4339"/>
              </a:lnSpc>
              <a:buAutoNum type="arabicPeriod"/>
            </a:pPr>
            <a:r>
              <a:rPr lang="en-US" sz="3099" b="1" dirty="0">
                <a:solidFill>
                  <a:srgbClr val="000000"/>
                </a:solidFill>
                <a:latin typeface="Times New Roman Bold"/>
                <a:ea typeface="Times New Roman Bold"/>
                <a:cs typeface="Times New Roman Bold"/>
                <a:sym typeface="Times New Roman Bold"/>
              </a:rPr>
              <a:t> </a:t>
            </a:r>
            <a:r>
              <a:rPr lang="en-US" sz="3099" b="1" dirty="0" smtClean="0">
                <a:solidFill>
                  <a:srgbClr val="000000"/>
                </a:solidFill>
                <a:latin typeface="Times New Roman Bold"/>
                <a:ea typeface="Times New Roman Bold"/>
                <a:cs typeface="Times New Roman Bold"/>
                <a:sym typeface="Times New Roman Bold"/>
              </a:rPr>
              <a:t>Define programming language? What is the purpose of using programming language?</a:t>
            </a:r>
          </a:p>
          <a:p>
            <a:pPr marL="514350" indent="-514350"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Classify </a:t>
            </a:r>
            <a:r>
              <a:rPr lang="en-US" sz="3099" b="1" dirty="0" smtClean="0">
                <a:solidFill>
                  <a:srgbClr val="000000"/>
                </a:solidFill>
                <a:latin typeface="Times New Roman Bold"/>
                <a:ea typeface="Times New Roman Bold"/>
                <a:cs typeface="Times New Roman Bold"/>
                <a:sym typeface="Times New Roman Bold"/>
              </a:rPr>
              <a:t> computer on the basis of function and size. Explain each type.</a:t>
            </a:r>
          </a:p>
          <a:p>
            <a:pPr marL="514350" indent="-514350"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What is computer generation? List the generation of computer and explain their major features.</a:t>
            </a:r>
          </a:p>
          <a:p>
            <a:pPr marL="514350" indent="-514350" algn="just">
              <a:lnSpc>
                <a:spcPts val="4339"/>
              </a:lnSpc>
              <a:buAutoNum type="arabicPeriod"/>
            </a:pPr>
            <a:r>
              <a:rPr lang="en-US" sz="3099" b="1" dirty="0" smtClean="0">
                <a:solidFill>
                  <a:srgbClr val="000000"/>
                </a:solidFill>
                <a:latin typeface="Times New Roman Bold"/>
                <a:ea typeface="Times New Roman Bold"/>
                <a:cs typeface="Times New Roman Bold"/>
                <a:sym typeface="Times New Roman Bold"/>
              </a:rPr>
              <a:t>Explain the working principle of computer.</a:t>
            </a:r>
          </a:p>
          <a:p>
            <a:pPr marL="514350" indent="-514350" algn="just">
              <a:lnSpc>
                <a:spcPts val="4339"/>
              </a:lnSpc>
              <a:buAutoNum type="arabicPeriod"/>
            </a:pPr>
            <a:r>
              <a:rPr lang="en-US" sz="3099" b="1" smtClean="0">
                <a:solidFill>
                  <a:srgbClr val="000000"/>
                </a:solidFill>
                <a:latin typeface="Times New Roman Bold"/>
                <a:ea typeface="Times New Roman Bold"/>
                <a:cs typeface="Times New Roman Bold"/>
                <a:sym typeface="Times New Roman Bold"/>
              </a:rPr>
              <a:t>Explain some </a:t>
            </a:r>
            <a:r>
              <a:rPr lang="en-US" sz="3099" b="1" dirty="0" smtClean="0">
                <a:solidFill>
                  <a:srgbClr val="000000"/>
                </a:solidFill>
                <a:latin typeface="Times New Roman Bold"/>
                <a:ea typeface="Times New Roman Bold"/>
                <a:cs typeface="Times New Roman Bold"/>
                <a:sym typeface="Times New Roman Bold"/>
              </a:rPr>
              <a:t>application are of computer.</a:t>
            </a:r>
          </a:p>
          <a:p>
            <a:pPr marL="514350" indent="-514350" algn="just">
              <a:lnSpc>
                <a:spcPts val="4339"/>
              </a:lnSpc>
              <a:buAutoNum type="arabicPeriod"/>
            </a:pPr>
            <a:endParaRPr lang="en-US" sz="3099" b="1" dirty="0" smtClean="0">
              <a:solidFill>
                <a:srgbClr val="000000"/>
              </a:solidFill>
              <a:latin typeface="Times New Roman Bold"/>
              <a:ea typeface="Times New Roman Bold"/>
              <a:cs typeface="Times New Roman Bold"/>
              <a:sym typeface="Times New Roman Bold"/>
            </a:endParaRPr>
          </a:p>
          <a:p>
            <a:pPr marL="514350" indent="-514350" algn="just">
              <a:lnSpc>
                <a:spcPts val="4339"/>
              </a:lnSpc>
              <a:buAutoNum type="arabicPeriod"/>
            </a:pPr>
            <a:endParaRPr lang="en-US" sz="3099" b="1" dirty="0" smtClean="0">
              <a:solidFill>
                <a:srgbClr val="000000"/>
              </a:solidFill>
              <a:latin typeface="Times New Roman Bold"/>
              <a:ea typeface="Times New Roman Bold"/>
              <a:cs typeface="Times New Roman Bold"/>
              <a:sym typeface="Times New Roman Bold"/>
            </a:endParaRPr>
          </a:p>
        </p:txBody>
      </p:sp>
    </p:spTree>
    <p:extLst>
      <p:ext uri="{BB962C8B-B14F-4D97-AF65-F5344CB8AC3E}">
        <p14:creationId xmlns:p14="http://schemas.microsoft.com/office/powerpoint/2010/main" val="4081101994"/>
      </p:ext>
    </p:extLst>
  </p:cSld>
  <p:clrMapOvr>
    <a:masterClrMapping/>
  </p:clrMapOvr>
  <p:transition>
    <p:cover dir="rd"/>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A9EDE1"/>
        </a:solidFill>
        <a:effectLst/>
      </p:bgPr>
    </p:bg>
    <p:spTree>
      <p:nvGrpSpPr>
        <p:cNvPr id="1" name=""/>
        <p:cNvGrpSpPr/>
        <p:nvPr/>
      </p:nvGrpSpPr>
      <p:grpSpPr>
        <a:xfrm>
          <a:off x="0" y="0"/>
          <a:ext cx="0" cy="0"/>
          <a:chOff x="0" y="0"/>
          <a:chExt cx="0" cy="0"/>
        </a:xfrm>
      </p:grpSpPr>
      <p:sp>
        <p:nvSpPr>
          <p:cNvPr id="2" name="TextBox 2"/>
          <p:cNvSpPr txBox="1"/>
          <p:nvPr/>
        </p:nvSpPr>
        <p:spPr>
          <a:xfrm>
            <a:off x="3308323" y="2599259"/>
            <a:ext cx="12110994" cy="5350724"/>
          </a:xfrm>
          <a:prstGeom prst="rect">
            <a:avLst/>
          </a:prstGeom>
        </p:spPr>
        <p:txBody>
          <a:bodyPr lIns="0" tIns="0" rIns="0" bIns="0" rtlCol="0" anchor="t">
            <a:spAutoFit/>
          </a:bodyPr>
          <a:lstStyle/>
          <a:p>
            <a:pPr algn="ctr">
              <a:lnSpc>
                <a:spcPts val="20007"/>
              </a:lnSpc>
            </a:pPr>
            <a:r>
              <a:rPr lang="en-US" sz="21284">
                <a:solidFill>
                  <a:srgbClr val="000000"/>
                </a:solidFill>
                <a:latin typeface="Times New Roman"/>
                <a:ea typeface="Times New Roman"/>
                <a:cs typeface="Times New Roman"/>
                <a:sym typeface="Times New Roman"/>
              </a:rPr>
              <a:t>Thank You</a:t>
            </a:r>
          </a:p>
        </p:txBody>
      </p:sp>
      <p:sp>
        <p:nvSpPr>
          <p:cNvPr id="7" name="Freeform 7"/>
          <p:cNvSpPr/>
          <p:nvPr/>
        </p:nvSpPr>
        <p:spPr>
          <a:xfrm flipH="1">
            <a:off x="-189935" y="5532613"/>
            <a:ext cx="1992946" cy="1633109"/>
          </a:xfrm>
          <a:custGeom>
            <a:avLst/>
            <a:gdLst/>
            <a:ahLst/>
            <a:cxnLst/>
            <a:rect l="l" t="t" r="r" b="b"/>
            <a:pathLst>
              <a:path w="1992946" h="1633109">
                <a:moveTo>
                  <a:pt x="1992947" y="0"/>
                </a:moveTo>
                <a:lnTo>
                  <a:pt x="0" y="0"/>
                </a:lnTo>
                <a:lnTo>
                  <a:pt x="0" y="1633109"/>
                </a:lnTo>
                <a:lnTo>
                  <a:pt x="1992947" y="1633109"/>
                </a:lnTo>
                <a:lnTo>
                  <a:pt x="1992947" y="0"/>
                </a:lnTo>
                <a:close/>
              </a:path>
            </a:pathLst>
          </a:custGeom>
          <a:blipFill>
            <a:blip r:embed="rId2">
              <a:extLst>
                <a:ext uri="{96DAC541-7B7A-43D3-8B79-37D633B846F1}">
                  <asvg:svgBlip xmlns="" xmlns:asvg="http://schemas.microsoft.com/office/drawing/2016/SVG/main" r:embed="rId6"/>
                </a:ext>
              </a:extLst>
            </a:blip>
            <a:stretch>
              <a:fillRect/>
            </a:stretch>
          </a:blipFill>
        </p:spPr>
      </p:sp>
      <p:sp>
        <p:nvSpPr>
          <p:cNvPr id="8" name="Freeform 8"/>
          <p:cNvSpPr/>
          <p:nvPr/>
        </p:nvSpPr>
        <p:spPr>
          <a:xfrm>
            <a:off x="-1469045" y="7949983"/>
            <a:ext cx="3785533" cy="2904536"/>
          </a:xfrm>
          <a:custGeom>
            <a:avLst/>
            <a:gdLst/>
            <a:ahLst/>
            <a:cxnLst/>
            <a:rect l="l" t="t" r="r" b="b"/>
            <a:pathLst>
              <a:path w="3785533" h="2904536">
                <a:moveTo>
                  <a:pt x="0" y="0"/>
                </a:moveTo>
                <a:lnTo>
                  <a:pt x="3785532" y="0"/>
                </a:lnTo>
                <a:lnTo>
                  <a:pt x="3785532" y="2904536"/>
                </a:lnTo>
                <a:lnTo>
                  <a:pt x="0" y="2904536"/>
                </a:lnTo>
                <a:lnTo>
                  <a:pt x="0" y="0"/>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9" name="Freeform 9"/>
          <p:cNvSpPr/>
          <p:nvPr/>
        </p:nvSpPr>
        <p:spPr>
          <a:xfrm rot="1585320">
            <a:off x="-442343" y="6948688"/>
            <a:ext cx="2292987" cy="3582793"/>
          </a:xfrm>
          <a:custGeom>
            <a:avLst/>
            <a:gdLst/>
            <a:ahLst/>
            <a:cxnLst/>
            <a:rect l="l" t="t" r="r" b="b"/>
            <a:pathLst>
              <a:path w="2292987" h="3582793">
                <a:moveTo>
                  <a:pt x="0" y="0"/>
                </a:moveTo>
                <a:lnTo>
                  <a:pt x="2292987" y="0"/>
                </a:lnTo>
                <a:lnTo>
                  <a:pt x="2292987" y="3582793"/>
                </a:lnTo>
                <a:lnTo>
                  <a:pt x="0" y="3582793"/>
                </a:lnTo>
                <a:lnTo>
                  <a:pt x="0" y="0"/>
                </a:lnTo>
                <a:close/>
              </a:path>
            </a:pathLst>
          </a:custGeom>
          <a:blipFill>
            <a:blip r:embed="rId9">
              <a:extLst>
                <a:ext uri="{96DAC541-7B7A-43D3-8B79-37D633B846F1}">
                  <asvg:svgBlip xmlns="" xmlns:asvg="http://schemas.microsoft.com/office/drawing/2016/SVG/main" r:embed="rId10"/>
                </a:ext>
              </a:extLst>
            </a:blip>
            <a:stretch>
              <a:fillRect/>
            </a:stretch>
          </a:blipFill>
        </p:spPr>
      </p:sp>
      <p:sp>
        <p:nvSpPr>
          <p:cNvPr id="10" name="Freeform 10"/>
          <p:cNvSpPr/>
          <p:nvPr/>
        </p:nvSpPr>
        <p:spPr>
          <a:xfrm flipV="1">
            <a:off x="15160243" y="-516482"/>
            <a:ext cx="3965719" cy="3042788"/>
          </a:xfrm>
          <a:custGeom>
            <a:avLst/>
            <a:gdLst/>
            <a:ahLst/>
            <a:cxnLst/>
            <a:rect l="l" t="t" r="r" b="b"/>
            <a:pathLst>
              <a:path w="3965719" h="3042788">
                <a:moveTo>
                  <a:pt x="0" y="3042788"/>
                </a:moveTo>
                <a:lnTo>
                  <a:pt x="3965719" y="3042788"/>
                </a:lnTo>
                <a:lnTo>
                  <a:pt x="3965719" y="0"/>
                </a:lnTo>
                <a:lnTo>
                  <a:pt x="0" y="0"/>
                </a:lnTo>
                <a:lnTo>
                  <a:pt x="0" y="3042788"/>
                </a:lnTo>
                <a:close/>
              </a:path>
            </a:pathLst>
          </a:custGeom>
          <a:blipFill>
            <a:blip r:embed="rId7">
              <a:extLst>
                <a:ext uri="{96DAC541-7B7A-43D3-8B79-37D633B846F1}">
                  <asvg:svgBlip xmlns="" xmlns:asvg="http://schemas.microsoft.com/office/drawing/2016/SVG/main" r:embed="rId8"/>
                </a:ext>
              </a:extLst>
            </a:blip>
            <a:stretch>
              <a:fillRect/>
            </a:stretch>
          </a:blipFill>
        </p:spPr>
      </p:sp>
      <p:sp>
        <p:nvSpPr>
          <p:cNvPr id="11" name="Freeform 11"/>
          <p:cNvSpPr/>
          <p:nvPr/>
        </p:nvSpPr>
        <p:spPr>
          <a:xfrm rot="258611" flipH="1" flipV="1">
            <a:off x="16229852" y="-636779"/>
            <a:ext cx="2402131" cy="3753329"/>
          </a:xfrm>
          <a:custGeom>
            <a:avLst/>
            <a:gdLst/>
            <a:ahLst/>
            <a:cxnLst/>
            <a:rect l="l" t="t" r="r" b="b"/>
            <a:pathLst>
              <a:path w="2402131" h="3753329">
                <a:moveTo>
                  <a:pt x="2402131" y="3753329"/>
                </a:moveTo>
                <a:lnTo>
                  <a:pt x="0" y="3753329"/>
                </a:lnTo>
                <a:lnTo>
                  <a:pt x="0" y="0"/>
                </a:lnTo>
                <a:lnTo>
                  <a:pt x="2402131" y="0"/>
                </a:lnTo>
                <a:lnTo>
                  <a:pt x="2402131" y="3753329"/>
                </a:lnTo>
                <a:close/>
              </a:path>
            </a:pathLst>
          </a:custGeom>
          <a:blipFill>
            <a:blip r:embed="rId9">
              <a:extLst>
                <a:ext uri="{96DAC541-7B7A-43D3-8B79-37D633B846F1}">
                  <asvg:svgBlip xmlns="" xmlns:asvg="http://schemas.microsoft.com/office/drawing/2016/SVG/main" r:embed="rId10"/>
                </a:ext>
              </a:extLst>
            </a:blip>
            <a:stretch>
              <a:fillRect/>
            </a:stretch>
          </a:blipFill>
        </p:spPr>
      </p:sp>
      <p:sp>
        <p:nvSpPr>
          <p:cNvPr id="12" name="Freeform 12"/>
          <p:cNvSpPr/>
          <p:nvPr/>
        </p:nvSpPr>
        <p:spPr>
          <a:xfrm rot="2492048">
            <a:off x="804722" y="8243048"/>
            <a:ext cx="1798175" cy="2809649"/>
          </a:xfrm>
          <a:custGeom>
            <a:avLst/>
            <a:gdLst/>
            <a:ahLst/>
            <a:cxnLst/>
            <a:rect l="l" t="t" r="r" b="b"/>
            <a:pathLst>
              <a:path w="1798175" h="2809649">
                <a:moveTo>
                  <a:pt x="0" y="0"/>
                </a:moveTo>
                <a:lnTo>
                  <a:pt x="1798175" y="0"/>
                </a:lnTo>
                <a:lnTo>
                  <a:pt x="1798175" y="2809648"/>
                </a:lnTo>
                <a:lnTo>
                  <a:pt x="0" y="2809648"/>
                </a:lnTo>
                <a:lnTo>
                  <a:pt x="0" y="0"/>
                </a:lnTo>
                <a:close/>
              </a:path>
            </a:pathLst>
          </a:custGeom>
          <a:blipFill>
            <a:blip r:embed="rId9">
              <a:extLst>
                <a:ext uri="{96DAC541-7B7A-43D3-8B79-37D633B846F1}">
                  <asvg:svgBlip xmlns="" xmlns:asvg="http://schemas.microsoft.com/office/drawing/2016/SVG/main" r:embed="rId10"/>
                </a:ext>
              </a:extLst>
            </a:blip>
            <a:stretch>
              <a:fillRect/>
            </a:stretch>
          </a:blipFill>
        </p:spPr>
      </p:sp>
      <p:sp>
        <p:nvSpPr>
          <p:cNvPr id="13" name="Freeform 13"/>
          <p:cNvSpPr/>
          <p:nvPr/>
        </p:nvSpPr>
        <p:spPr>
          <a:xfrm rot="210947" flipH="1" flipV="1">
            <a:off x="14891141" y="-1399932"/>
            <a:ext cx="2402131" cy="3753329"/>
          </a:xfrm>
          <a:custGeom>
            <a:avLst/>
            <a:gdLst/>
            <a:ahLst/>
            <a:cxnLst/>
            <a:rect l="l" t="t" r="r" b="b"/>
            <a:pathLst>
              <a:path w="2402131" h="3753329">
                <a:moveTo>
                  <a:pt x="2402131" y="3753329"/>
                </a:moveTo>
                <a:lnTo>
                  <a:pt x="0" y="3753329"/>
                </a:lnTo>
                <a:lnTo>
                  <a:pt x="0" y="0"/>
                </a:lnTo>
                <a:lnTo>
                  <a:pt x="2402131" y="0"/>
                </a:lnTo>
                <a:lnTo>
                  <a:pt x="2402131" y="3753329"/>
                </a:lnTo>
                <a:close/>
              </a:path>
            </a:pathLst>
          </a:custGeom>
          <a:blipFill>
            <a:blip r:embed="rId9">
              <a:extLst>
                <a:ext uri="{96DAC541-7B7A-43D3-8B79-37D633B846F1}">
                  <asvg:svgBlip xmlns="" xmlns:asvg="http://schemas.microsoft.com/office/drawing/2016/SVG/main" r:embed="rId10"/>
                </a:ext>
              </a:extLst>
            </a:blip>
            <a:stretch>
              <a:fillRect/>
            </a:stretch>
          </a:blipFill>
        </p:spPr>
      </p:sp>
    </p:spTree>
  </p:cSld>
  <p:clrMapOvr>
    <a:masterClrMapping/>
  </p:clrMapOvr>
  <p:transition>
    <p:cover dir="rd"/>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TotalTime>
  <Words>2474</Words>
  <Application>Microsoft Office PowerPoint</Application>
  <PresentationFormat>Custom</PresentationFormat>
  <Paragraphs>179</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Fundamental and Application</dc:title>
  <cp:lastModifiedBy>Lenovo</cp:lastModifiedBy>
  <cp:revision>30</cp:revision>
  <dcterms:created xsi:type="dcterms:W3CDTF">2006-08-16T00:00:00Z</dcterms:created>
  <dcterms:modified xsi:type="dcterms:W3CDTF">2026-09-17T08:24:14Z</dcterms:modified>
  <dc:identifier>DAG3p08kdtU</dc:identifier>
</cp:coreProperties>
</file>